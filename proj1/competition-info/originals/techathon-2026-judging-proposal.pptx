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92" userDrawn="1">
          <p15:clr>
            <a:srgbClr val="747775"/>
          </p15:clr>
        </p15:guide>
        <p15:guide id="2" pos="284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92"/>
        <p:guide pos="284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各位同学晚上好，欢迎来到上海科技大学第一届黑客松 Techathon 的赛事讲解会。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今天这场讲解只讲一件事：48 小时里，你们要交什么、评委怎么打分、奖项怎么产生。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整套评审机制分为五个部分：作品提交、评分标准、评审机制、奖项设置和其他说明。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建议大家对照讲解准备材料，尤其是 Demo 和路演环节，每年都有队伍在这些地方丢分。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比赛 10 月 17 日在会议中心西厅正式开赛，预祝大家开造顺利。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今天的讲解围绕五个部分展开。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第一部分作品提交，讲清楚要交什么、什么时候交、不交 Demo 有什么后果。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第二部分评分标准，100 分拆成三个维度，我会逐个维度讲清得分点和扣分项。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第三部分评审机制，说明大众评审和专业评审分别怎么运作；第四部分是大家最关心的奖项设置。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最后是参赛红线和知识产权说明，这部分关系到评奖资格，请务必听完。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先用四个数字帮大家建立整体印象。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第一，48 小时，所有材料必须在黑客松结束时间内提交，逾期直接视为放弃资格。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第二，总分 100 分，由创新 30、技术 30、答辩展示 40 三个维度构成。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第三，评审采用双轨制，大众贴纸投票只决定人气奖，综合奖项全部由专业评审打分产生。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第四，全场大奖奖金一万元，另有等级奖、优秀奖和 HardTech、最佳人气两个单项奖。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作品提交包含三类材料。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第一类是说明文档，写清项目名称、成员信息、简介和功能说明，最重要的是原创与版权声明，所有第三方开源库、模型、数据集都要标注来源。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第二类是项目内容，包括代码仓库链接和技术说明文档；如果仓库是私有的，一定要提前给组委会开放评委访问权限，评委打不开代码会直接影响评分。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第三类是展示内容，展示 PPT 加 Demo 或演示视频，视频控制在 8 分钟内，推荐 MP4。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现场演示可能遇到网络或设备问题，务必提前准备现场运行方案和备用演示材料。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这一页请大家特别注意，这是提交环节最容易丢分的地方。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比赛鼓励大家交出可运行、可体验、可展示的 Demo；如果只有概念、文案和 PPT，技术完成度和成果材料完整性两个维度会同步扣分，完全没有 Demo 最高扣 20 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提交路径分三步：48 小时结束前通过指定收集表单提交全部材料，组委会审核完整性，审核通过才能进入游园互评和最终路演。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再次强调，逾期提交直接视为自动放弃，不要卡着最后一分钟上传，务必留出检查时间。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评分标准是今天的核心，总分 100 分，分三个维度。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项目创新性 30 分，包括选题创新、方案创新、场景创新各 10 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技术完成度与稳定性 30 分，包括功能完整性、系统稳定性、工程规范性各 10 分，这是技术赛道的核心评分项。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答辩展示与成果呈现 40 分，其中路演答辩质量一项就占 20 分，是单项分值最高的指标，另外成果材料完整性和整体观感各 10 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注意，这 100 分全部由专业评审打出，大众投票只决定人气奖，不计入综合分数。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第一个维度，项目创新性，30 分，三个子项各 10 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选题创新看你是否解决真实痛点，有没有前瞻性和落地价值，不要交老旧的通用方案。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方案创新看技术架构和功能设计有没有独特亮点；场景创新看应用能否跨场景拓展。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特别强调开源规则：评委会把作品和公开开源项目比对，直接复刻或高度雷同会按相似度扣分，完全照搬且没有改造的，创新大项直接 0 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站在开源项目肩膀上做二次开发完全允许，但必须有自己的设计改良，并在技术文档里写清楚改了什么。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第二个维度，技术完成度与稳定性，30 分，这是技术赛道的核心评分项。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功能完整性看核心需求是否全部落地，次要需求没做完不扣分，多做的拓展功能反而可以加分。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系统稳定性看演示过程是否崩溃、报错、卡顿，接口是否稳定、容错好不好；这里有一条人性化规定，现场网络、硬件等客观原因导致的故障，评委核实后不扣分。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工程规范性看代码结构、注释、版本管理和部署流程，如果代码不能全部公开，至少要提供核心模块供查验。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提醒大家，客观故障不扣分不代表可以裸奔上场，备用演示方案依然是必选项。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第三个维度，答辩展示与成果呈现，40 分，是三个维度里权重最高的。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成果材料完整性 10 分，赛事要求的文档、技术报告、PPT、视频、源码、部署说明要全部交齐，缺项梯度扣分，关键材料缺失这一项可能直接 0 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路演答辩质量一项就有 20 分，是所有子项里分值最高的。路演严格计时 5 分钟，超时会被终止汇报还要扣分，排练时请给自己留出缓冲。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讲的时候要逻辑清晰、重点突出，把核心技术、创新点、痛点和落地方案讲明白，评委提问要能专业准确地回应。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最后的整体观感 10 分，看业务闭环、分工和材料排版，本质上是看你们 48 小时攻坚的专业程度。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本次比赛采用双轨制评审，大众评审和专业评审并行，但权重完全不同。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大众评审以贴纸形式进行，所有队伍在展区开放展示，全校师生现场体验、用金币贴纸投票，票数最高的队伍获得最佳人气奖，这一票数不计入综合分数；出现平票由组委会结合现场体验裁定。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专业评审由教师、技术导师、赞助商代表和行业嘉宾组成，执行评委回避制度，评委不能给自己指导的队伍打分。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专业评审的分数由展示环节的巡场评分和 5 分钟路演答辩得分加权汇总，全场大奖和各等级奖全部依据这个综合得分产生。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这一页把评审全流程串起来，一共五个节点。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 48 小时结束前提交全部材料；第二步组委会做资格审核，通过才能入围。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第三步游园互评和巡场评分同时进行，展区对外开放，师生用贴纸投票，评委在巡场中打分；第四步进入路演，5 分钟展示加评委提问。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第五步，巡场评分和路演答辩加权汇总，产生全场大奖和各等级奖项。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另外有两个制度要点：评委回避制度保证公平；适合 C 端的优秀项目还有机会被推荐到 AI 应用商店展览或表演赛，这是额外曝光，不影响排名，知识产权也仍然归队伍所有。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奖项分两类。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综合奖项包括全场大奖，奖金一万元，以及一等奖、二等奖、三等奖和优秀奖，全部依据专业评审的加权综合得分产生。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单项奖项有两个：HardTech 奖，奖励在算法、硬件、底层工程上真正啃下硬骨头的硬核项目，由专业评审评定。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最佳人气奖，由游园现场的金币贴纸投票决定，不计入综合得分，拼的是现场体验和感染力。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同一支队伍可以同时拿综合奖和单项奖。具体名额、奖金和奖项名称以赛前正式公告为准。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最后是规则说明，先讲红线。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四类行为会被直接取消资格：抄袭剽窃套壳、伪造虚报材料或团队信息、无故缺席路演展示，以及违反赛事规则、扰乱比赛秩序。资格核查贯穿全过程，一经核实立即取消成绩。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知识产权方面，项目的全部知识产权归参赛团队，组委会只保留非商业性质的公开展示、宣传和案例汇编使用权。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本预案最终解释权归 Techathon 组委会，后续调整以官方渠道发布的最新公告为准。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以上就是本次 Techathon 评审机制的全部内容，简单收个尾。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记住三件事：材料按时交齐，Demo 一定能跑，路演控制在 5 分钟以内。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现在进入答疑环节，关于提交、评分、评审流程和奖项的任何问题都可以现场提出。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10 月 17 日，会议中心西厅，期待大家的作品。JUST MAKE IT，开造！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以上就是本次 Techathon 评审机制的全部内容，简单收个尾。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记住三件事：材料按时交齐，Demo 一定能跑，路演控制在 5 分钟以内。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现在进入答疑环节，关于提交、评分、评审流程和奖项的任何问题都可以现场提出。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10 月 17 日，会议中心西厅，期待大家的作品。JUST MAKE IT，开造！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431800"/>
            <a:ext cx="660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EBEC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SHANGHAITECH UNIVERSITY · HACKATHON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414000" y="355600"/>
            <a:ext cx="1117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2026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905000" y="1905000"/>
            <a:ext cx="8382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2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TECHATHON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2430">
            <a:off x="3175030" y="375285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2202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" name="Connector 7"/>
          <p:cNvCxnSpPr/>
          <p:nvPr/>
        </p:nvCxnSpPr>
        <p:spPr>
          <a:xfrm rot="-32430">
            <a:off x="7670830" y="375285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2202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 rot="10800000">
            <a:off x="5994400" y="3632200"/>
            <a:ext cx="203200" cy="203200"/>
          </a:xfrm>
          <a:prstGeom prst="triangle">
            <a:avLst/>
          </a:prstGeom>
          <a:solidFill>
            <a:srgbClr val="00E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2286000" y="3962400"/>
            <a:ext cx="762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破冰会</a:t>
            </a:r>
            <a:endParaRPr lang="zh-CN" altLang="en-US" sz="3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3556000" y="46736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AAAB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JUST MAKE IT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034">
            <a:off x="685804" y="5734050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202D">
                <a:alpha val="4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685800" y="59182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2026.10.17 开赛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上海科技大学会议中心西厅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8128000" y="6045200"/>
            <a:ext cx="3378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AAAB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主办：T.I.E · GeekPie_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58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63600"/>
            <a:ext cx="381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1625600"/>
            <a:ext cx="812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889000" y="1930400"/>
            <a:ext cx="127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2286000" y="19812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作品提交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334000" y="20320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三类材料、48 小时提交时限与 Demo 红线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192">
            <a:off x="889004" y="2635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889000" y="2717800"/>
            <a:ext cx="127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286000" y="27686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评分标准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5334000" y="28194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总分 100 分，三大评分维度逐项拆解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192">
            <a:off x="889004" y="3422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889000" y="3505200"/>
            <a:ext cx="127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286000" y="3556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评审机制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5334000" y="36068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大众评审与专业评审双轨并行、各司其职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42100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4292600"/>
            <a:ext cx="127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2286000" y="43434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奖项设置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5334000" y="43942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综合奖项与单项奖项全景，一万元全场大奖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4192">
            <a:off x="889004" y="49974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 txBox="1"/>
          <p:nvPr/>
        </p:nvSpPr>
        <p:spPr>
          <a:xfrm>
            <a:off x="889000" y="5080000"/>
            <a:ext cx="127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05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2286000" y="51308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其他说明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5334000" y="51816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参赛红线、知识产权归属与规则解释权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4192">
            <a:off x="889004" y="57848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 txBox="1"/>
          <p:nvPr/>
        </p:nvSpPr>
        <p:spPr>
          <a:xfrm>
            <a:off x="685800" y="6350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TECHATHON 2026 · JUDGING MECHANISM BRIEFING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OVERVIEW · 赛事速览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889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一张图看懂 Techathon 评审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1498600"/>
            <a:ext cx="812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85800" y="1854200"/>
            <a:ext cx="25527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85800" y="1892300"/>
            <a:ext cx="2552700" cy="2133600"/>
          </a:xfrm>
          <a:prstGeom prst="roundRect">
            <a:avLst>
              <a:gd name="adj" fmla="val 0"/>
            </a:avLst>
          </a:prstGeom>
          <a:solidFill>
            <a:srgbClr val="121218">
              <a:alpha val="66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889000" y="2108200"/>
            <a:ext cx="2159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48h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89000" y="2997200"/>
            <a:ext cx="215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极限开发时限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89000" y="3403600"/>
            <a:ext cx="218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全部作品材料须在 48 小时结束前完成提交，逾期视为放弃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41700" y="1854200"/>
            <a:ext cx="25527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441700" y="1892300"/>
            <a:ext cx="2552700" cy="2133600"/>
          </a:xfrm>
          <a:prstGeom prst="roundRect">
            <a:avLst>
              <a:gd name="adj" fmla="val 0"/>
            </a:avLst>
          </a:prstGeom>
          <a:solidFill>
            <a:srgbClr val="121218">
              <a:alpha val="66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3644900" y="2108200"/>
            <a:ext cx="2159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100</a:t>
            </a:r>
            <a:r>
              <a:rPr lang="en-US" sz="26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分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3644900" y="2997200"/>
            <a:ext cx="215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三维评分体系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3644900" y="3403600"/>
            <a:ext cx="218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 30 分 + 技术 30 分 + 答辩展示 40 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97600" y="1854200"/>
            <a:ext cx="25527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197600" y="1892300"/>
            <a:ext cx="2552700" cy="2133600"/>
          </a:xfrm>
          <a:prstGeom prst="roundRect">
            <a:avLst>
              <a:gd name="adj" fmla="val 0"/>
            </a:avLst>
          </a:prstGeom>
          <a:solidFill>
            <a:srgbClr val="121218">
              <a:alpha val="66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6400800" y="2108200"/>
            <a:ext cx="2159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双轨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6400800" y="2997200"/>
            <a:ext cx="215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评审机制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400800" y="3403600"/>
            <a:ext cx="218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大众贴纸投票评人气，专业评审打分定综合奖项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1854200"/>
            <a:ext cx="25527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953500" y="1892300"/>
            <a:ext cx="2552700" cy="2133600"/>
          </a:xfrm>
          <a:prstGeom prst="roundRect">
            <a:avLst>
              <a:gd name="adj" fmla="val 0"/>
            </a:avLst>
          </a:prstGeom>
          <a:solidFill>
            <a:srgbClr val="121218">
              <a:alpha val="66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9156700" y="2184400"/>
            <a:ext cx="22352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¥10,000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9156700" y="2997200"/>
            <a:ext cx="215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全场大奖奖金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9156700" y="3403600"/>
            <a:ext cx="2184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另设一、二、三等奖、优秀奖与两项单项奖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85800" y="4521200"/>
            <a:ext cx="10820400" cy="1092200"/>
          </a:xfrm>
          <a:prstGeom prst="roundRect">
            <a:avLst>
              <a:gd name="adj" fmla="val 0"/>
            </a:avLst>
          </a:prstGeom>
          <a:solidFill>
            <a:srgbClr val="E2202D">
              <a:alpha val="10000"/>
            </a:srgbClr>
          </a:solidFill>
          <a:ln w="12700" cap="flat" cmpd="sng">
            <a:solidFill>
              <a:srgbClr val="E2202D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 txBox="1"/>
          <p:nvPr/>
        </p:nvSpPr>
        <p:spPr>
          <a:xfrm>
            <a:off x="990600" y="4724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开赛时间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90600" y="5054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2026.10.17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336345">
            <a:off x="3848100" y="5061009"/>
            <a:ext cx="68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 txBox="1"/>
          <p:nvPr/>
        </p:nvSpPr>
        <p:spPr>
          <a:xfrm>
            <a:off x="4521200" y="47244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举办地点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4521200" y="5054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会议中心西厅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336345">
            <a:off x="7404100" y="5061009"/>
            <a:ext cx="68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 txBox="1"/>
          <p:nvPr/>
        </p:nvSpPr>
        <p:spPr>
          <a:xfrm>
            <a:off x="8077200" y="4724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关键路径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8077200" y="5054600"/>
            <a:ext cx="3378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 → 审核 → 游园互评 → 路演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685800" y="5918200"/>
            <a:ext cx="965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8C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注：全部奖项名额、奖金、奖品与奖项最终名称，均以赛前正式公布公告为准。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SUBMISSION · 作品提交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三类提交材料，一项都不能少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1473200"/>
            <a:ext cx="812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85800" y="177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85800" y="1816100"/>
            <a:ext cx="3429000" cy="3962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2032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 txBox="1"/>
          <p:nvPr/>
        </p:nvSpPr>
        <p:spPr>
          <a:xfrm>
            <a:off x="1422400" y="20066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说明文档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175000" y="2057400"/>
            <a:ext cx="711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5211">
            <a:off x="965214" y="253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965200" y="2692400"/>
            <a:ext cx="2870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  <a:defRPr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项目名称</a:t>
            </a:r>
            <a:endParaRPr lang="en-US" sz="1100"/>
          </a:p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队伍成员信息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项目简介与功能说明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原创与版权声明：承诺为本队原创成果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第三方开源库、模型、数据集须完整标注来源，严禁抄袭、剽窃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81500" y="177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81500" y="1816100"/>
            <a:ext cx="3429000" cy="3962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032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 txBox="1"/>
          <p:nvPr/>
        </p:nvSpPr>
        <p:spPr>
          <a:xfrm>
            <a:off x="5118100" y="20066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项目内容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870700" y="2057400"/>
            <a:ext cx="711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211">
            <a:off x="4660914" y="253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4660900" y="2692400"/>
            <a:ext cx="2870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  <a:defRPr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代码仓库链接，须保障评委可访问</a:t>
            </a:r>
            <a:endParaRPr lang="en-US" sz="1100"/>
          </a:p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若使用私有仓库，须向组委会提供评委访问权限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技术说明文档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使用到的第三方工具、开源库、API、模型或数据集说明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077200" y="177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77200" y="1816100"/>
            <a:ext cx="3429000" cy="3962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56600" y="2032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 txBox="1"/>
          <p:nvPr/>
        </p:nvSpPr>
        <p:spPr>
          <a:xfrm>
            <a:off x="8813800" y="20066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展示内容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0566400" y="2057400"/>
            <a:ext cx="711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5211">
            <a:off x="8356614" y="253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 txBox="1"/>
          <p:nvPr/>
        </p:nvSpPr>
        <p:spPr>
          <a:xfrm>
            <a:off x="8356600" y="2692400"/>
            <a:ext cx="2870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  <a:defRPr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 PPT</a:t>
            </a:r>
            <a:endParaRPr lang="en-US" sz="1100"/>
          </a:p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 Demo 或演示视频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视频建议时长 8 分钟以内，推荐 MP4 格式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29000"/>
              </a:lnSpc>
              <a:buClr>
                <a:srgbClr val="D6D6DC"/>
              </a:buClr>
              <a:buChar char="•"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提前准备 Demo 现场运行方案，同时备好备用演示材料，应对现场环境异常</a:t>
            </a:r>
            <a:endParaRPr lang="en-US" sz="13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 txBox="1"/>
          <p:nvPr/>
        </p:nvSpPr>
        <p:spPr>
          <a:xfrm>
            <a:off x="685800" y="5969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8C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注：材料完整度直接计入「成果材料完整性」评分；关键核心材料缺失，该评分项最高计 0 分。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SUBMISSION · 作品提交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提交方式与 Demo 红线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1473200"/>
            <a:ext cx="812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85800" y="1701800"/>
            <a:ext cx="10820400" cy="1854200"/>
          </a:xfrm>
          <a:prstGeom prst="roundRect">
            <a:avLst>
              <a:gd name="adj" fmla="val 0"/>
            </a:avLst>
          </a:prstGeom>
          <a:solidFill>
            <a:srgbClr val="E2202D">
              <a:alpha val="14000"/>
            </a:srgbClr>
          </a:solidFill>
          <a:ln w="12700" cap="flat" cmpd="sng">
            <a:solidFill>
              <a:srgbClr val="E2202D">
                <a:alpha val="7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066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 txBox="1"/>
          <p:nvPr/>
        </p:nvSpPr>
        <p:spPr>
          <a:xfrm>
            <a:off x="1778000" y="19304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完全无 Demo，最高扣 </a:t>
            </a:r>
            <a:r>
              <a:rPr lang="en-US" sz="26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</a:t>
            </a: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分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778000" y="2540000"/>
            <a:ext cx="74422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作品应尽量具备可运行、可体验或可展示的 Demo。仅提交概念、文案或 PPT 而无实际可运行 / 可演示 Demo 的项目，将在「技术完成度」与「成果材料完整性」两个维度同步扣分。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9499600" y="1905000"/>
            <a:ext cx="1778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-20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85800" y="3810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提交路径：三步走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" y="4241800"/>
            <a:ext cx="3378200" cy="1422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939800" y="44450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STEP 1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939800" y="48514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限时提交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939800" y="5181600"/>
            <a:ext cx="2895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48h 结束前通过指定收集表单提交全部材料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80767">
            <a:off x="4114967" y="4946650"/>
            <a:ext cx="241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E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4406900" y="4241800"/>
            <a:ext cx="3378200" cy="1422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4660900" y="44450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STEP 2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4660900" y="48514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资格审核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4660900" y="5181600"/>
            <a:ext cx="2895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组委会对材料完整性进行审核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80767">
            <a:off x="7836067" y="4946650"/>
            <a:ext cx="241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E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8128000" y="4241800"/>
            <a:ext cx="3378200" cy="1422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E2202D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8382000" y="44450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STEP 3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8382000" y="48514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解锁展示与路演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8382000" y="5181600"/>
            <a:ext cx="2895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审核通过方可参与游园互评与最终路演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685800" y="5918200"/>
            <a:ext cx="965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注意：逾期提交视为自动放弃参赛资格，请务必预留上传与检查时间。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SCORING · 评分标准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总分 100 分：三大评分维度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1473200"/>
            <a:ext cx="812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85800" y="1701800"/>
            <a:ext cx="3200400" cy="6604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685800" y="1778000"/>
            <a:ext cx="320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项目创新性 · 30 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962400" y="1701800"/>
            <a:ext cx="3200400" cy="660400"/>
          </a:xfrm>
          <a:prstGeom prst="roundRect">
            <a:avLst>
              <a:gd name="adj" fmla="val 0"/>
            </a:avLst>
          </a:prstGeom>
          <a:solidFill>
            <a:srgbClr val="00E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3962400" y="1778000"/>
            <a:ext cx="320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80A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技术完成度与稳定性 · 30 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0" y="1701800"/>
            <a:ext cx="4267200" cy="660400"/>
          </a:xfrm>
          <a:prstGeom prst="roundRect">
            <a:avLst>
              <a:gd name="adj" fmla="val 0"/>
            </a:avLst>
          </a:prstGeom>
          <a:solidFill>
            <a:srgbClr val="F5F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7239000" y="1778000"/>
            <a:ext cx="426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80A0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答辩展示与成果呈现 · 40 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" y="2565400"/>
            <a:ext cx="3200400" cy="31496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E2202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914400" y="2743200"/>
            <a:ext cx="274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30</a:t>
            </a:r>
            <a:r>
              <a:rPr lang="en-US" sz="1800" b="1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分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915">
            <a:off x="914415" y="3575050"/>
            <a:ext cx="274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914400" y="37338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选题创新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2921000" y="3708400"/>
            <a:ext cx="736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915">
            <a:off x="914415" y="4133850"/>
            <a:ext cx="274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914400" y="42926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方案创新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2921000" y="4267200"/>
            <a:ext cx="736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915">
            <a:off x="914415" y="4692650"/>
            <a:ext cx="274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 txBox="1"/>
          <p:nvPr/>
        </p:nvSpPr>
        <p:spPr>
          <a:xfrm>
            <a:off x="914400" y="48514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场景创新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2921000" y="4826000"/>
            <a:ext cx="736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962400" y="2565400"/>
            <a:ext cx="3200400" cy="31496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00E0FF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 txBox="1"/>
          <p:nvPr/>
        </p:nvSpPr>
        <p:spPr>
          <a:xfrm>
            <a:off x="4191000" y="2743200"/>
            <a:ext cx="274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E0FF"/>
                </a:solidFill>
                <a:latin typeface="Anton"/>
                <a:ea typeface="Anton"/>
                <a:cs typeface="Anton"/>
                <a:sym typeface="Anton"/>
              </a:rPr>
              <a:t>30</a:t>
            </a:r>
            <a:r>
              <a:rPr lang="en-US" sz="1800" b="1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分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5915">
            <a:off x="4191015" y="3575050"/>
            <a:ext cx="274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 txBox="1"/>
          <p:nvPr/>
        </p:nvSpPr>
        <p:spPr>
          <a:xfrm>
            <a:off x="4191000" y="37338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功能完整性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197600" y="3708400"/>
            <a:ext cx="736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5915">
            <a:off x="4191015" y="4133850"/>
            <a:ext cx="274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 txBox="1"/>
          <p:nvPr/>
        </p:nvSpPr>
        <p:spPr>
          <a:xfrm>
            <a:off x="4191000" y="42926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系统稳定性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6197600" y="4267200"/>
            <a:ext cx="736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5915">
            <a:off x="4191015" y="4692650"/>
            <a:ext cx="274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 txBox="1"/>
          <p:nvPr/>
        </p:nvSpPr>
        <p:spPr>
          <a:xfrm>
            <a:off x="4191000" y="48514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工程规范性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197600" y="4826000"/>
            <a:ext cx="736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239000" y="2565400"/>
            <a:ext cx="4267200" cy="31496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5F5F7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 txBox="1"/>
          <p:nvPr/>
        </p:nvSpPr>
        <p:spPr>
          <a:xfrm>
            <a:off x="7467600" y="2743200"/>
            <a:ext cx="274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40</a:t>
            </a:r>
            <a:r>
              <a:rPr lang="en-US" sz="1800" b="1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分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1459">
            <a:off x="7467611" y="35750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 txBox="1"/>
          <p:nvPr/>
        </p:nvSpPr>
        <p:spPr>
          <a:xfrm>
            <a:off x="7467600" y="37338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成果材料完整性</a:t>
            </a:r>
            <a:endParaRPr lang="en-US" sz="1100"/>
          </a:p>
        </p:txBody>
      </p:sp>
      <p:sp>
        <p:nvSpPr>
          <p:cNvPr id="38" name="AutoShape 38"/>
          <p:cNvSpPr txBox="1"/>
          <p:nvPr/>
        </p:nvSpPr>
        <p:spPr>
          <a:xfrm>
            <a:off x="10515600" y="3708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-11459">
            <a:off x="7467611" y="41338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 txBox="1"/>
          <p:nvPr/>
        </p:nvSpPr>
        <p:spPr>
          <a:xfrm>
            <a:off x="7467600" y="42926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路演答辩质量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10515600" y="42672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0FF"/>
                </a:solidFill>
                <a:latin typeface="Anton"/>
                <a:ea typeface="Anton"/>
                <a:cs typeface="Anton"/>
                <a:sym typeface="Anton"/>
              </a:rPr>
              <a:t>20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-11459">
            <a:off x="7467611" y="4692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 txBox="1"/>
          <p:nvPr/>
        </p:nvSpPr>
        <p:spPr>
          <a:xfrm>
            <a:off x="7467600" y="48514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整体观感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10515600" y="48260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685800" y="59182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8C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注：综合奖项全部由专业评审打分产生；大众贴纸投票仅用于评选最佳人气奖，不计入主赛道综合分数。</a:t>
            </a:r>
            <a:endParaRPr lang="en-US" sz="1100"/>
          </a:p>
        </p:txBody>
      </p:sp>
      <p:sp>
        <p:nvSpPr>
          <p:cNvPr id="46" name="AutoShape 46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SCORING · 评分维度 01 / 03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项目创新性 </a:t>
            </a:r>
            <a:r>
              <a:rPr lang="en-US" sz="34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30</a:t>
            </a: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分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685800" y="13716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聚焦核心创意、差异化价值与赛道适配性，拒绝同质化、模板化作品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800" y="1778000"/>
            <a:ext cx="7112000" cy="1168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85800" y="177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939800" y="20320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2032000" y="19558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选题创新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2032000" y="2336800"/>
            <a:ext cx="5562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贴合行业痛点与真实需求，选题具备前瞻性、落地价值；避免老旧通用方案，不直接复刻网络同质化成品。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" y="3048000"/>
            <a:ext cx="7112000" cy="1168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85800" y="304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939800" y="33020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032000" y="32258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方案创新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032000" y="3606800"/>
            <a:ext cx="5562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技术架构、功能设计、解决思路具备独特性，不局限于基础通用模板，拥有自主优化、创新改良或全新设计的核心亮点。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" y="4318000"/>
            <a:ext cx="7112000" cy="1168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85800" y="431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939800" y="45720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2032000" y="44958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场景创新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2032000" y="4876800"/>
            <a:ext cx="5562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应用场景贴合实际使用、可拓展性强，能够适配多场景落地，具备区别于常规项目的差异化优势。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51800" y="1778000"/>
            <a:ext cx="3454400" cy="3708400"/>
          </a:xfrm>
          <a:prstGeom prst="roundRect">
            <a:avLst>
              <a:gd name="adj" fmla="val 0"/>
            </a:avLst>
          </a:prstGeom>
          <a:solidFill>
            <a:srgbClr val="E2202D">
              <a:alpha val="10000"/>
            </a:srgbClr>
          </a:solidFill>
          <a:ln w="12700" cap="flat" cmpd="sng">
            <a:solidFill>
              <a:srgbClr val="E2202D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8305800" y="1981200"/>
            <a:ext cx="294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评分导向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8305800" y="2336800"/>
            <a:ext cx="29972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21000"/>
              </a:lnSpc>
              <a:buClr>
                <a:srgbClr val="D6D6DC"/>
              </a:buClr>
              <a:buChar char="•"/>
              <a:defRPr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核心创意与差异化价值</a:t>
            </a:r>
            <a:endParaRPr lang="en-US" sz="1100"/>
          </a:p>
          <a:p>
            <a:pPr marL="152400" indent="-152400" algn="l">
              <a:lnSpc>
                <a:spcPct val="121000"/>
              </a:lnSpc>
              <a:buClr>
                <a:srgbClr val="D6D6DC"/>
              </a:buClr>
              <a:buChar char="•"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与赛道主题的适配程度</a:t>
            </a:r>
            <a:endParaRPr lang="en-US" sz="12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21000"/>
              </a:lnSpc>
              <a:buClr>
                <a:srgbClr val="D6D6DC"/>
              </a:buClr>
              <a:buChar char="•"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拒绝同质化、模板化作品</a:t>
            </a:r>
            <a:endParaRPr lang="en-US" sz="12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-14817">
            <a:off x="8305814" y="3270250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 txBox="1"/>
          <p:nvPr/>
        </p:nvSpPr>
        <p:spPr>
          <a:xfrm>
            <a:off x="8305800" y="3429000"/>
            <a:ext cx="294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开源项目比对规则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8305800" y="3784600"/>
            <a:ext cx="2997200" cy="160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作品将与公开开源项目比对评估：直接复刻、核心逻辑高度雷同，按相似程度扣减创新分；完全照搬且无自主创新改造，本大项计 0 分。允许基于开源项目二次开发，但须体现自主设计与改良，并在技术文档中明确说明改动内容。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SCORING · 评分维度 02 / 03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技术完成度与稳定性 </a:t>
            </a:r>
            <a:r>
              <a:rPr lang="en-US" sz="3400" b="1" i="0" u="none" strike="noStrike">
                <a:solidFill>
                  <a:srgbClr val="00E0FF"/>
                </a:solidFill>
                <a:latin typeface="Anton"/>
                <a:ea typeface="Anton"/>
                <a:cs typeface="Anton"/>
                <a:sym typeface="Anton"/>
              </a:rPr>
              <a:t>30</a:t>
            </a: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分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685800" y="1371600"/>
            <a:ext cx="965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技术赛道核心评分项，考核 48 小时内的项目落地质量、技术实力与工程能力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800" y="1778000"/>
            <a:ext cx="7112000" cy="1168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85800" y="177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939800" y="20320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00E0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2032000" y="19558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功能完整性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2032000" y="2336800"/>
            <a:ext cx="5562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核心预设需求全部落地，无关键功能缺失、无半成品设计；次要需求未完成不扣分，附加拓展功能可作为加分依据。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" y="3048000"/>
            <a:ext cx="7112000" cy="1168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85800" y="304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939800" y="33020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00E0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032000" y="32258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系统稳定性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032000" y="3606800"/>
            <a:ext cx="5562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演示运行无崩溃、无报错、无卡顿，接口响应稳定、逻辑顺畅、容错性良好；因现场外部网络、硬件等客观环境导致的故障，经评委核实不予扣分。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" y="4318000"/>
            <a:ext cx="7112000" cy="1168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85800" y="431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939800" y="45720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00E0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2032000" y="44958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工程规范性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2032000" y="4876800"/>
            <a:ext cx="5562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代码结构清晰、注释规范、文件层级完整、版本管理有序，部署流程标准化；无法完整公开全部代码时，须提供核心模块代码供评审核验。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51800" y="1778000"/>
            <a:ext cx="3454400" cy="3708400"/>
          </a:xfrm>
          <a:prstGeom prst="roundRect">
            <a:avLst>
              <a:gd name="adj" fmla="val 0"/>
            </a:avLst>
          </a:prstGeom>
          <a:solidFill>
            <a:srgbClr val="00E0FF">
              <a:alpha val="8000"/>
            </a:srgbClr>
          </a:solidFill>
          <a:ln w="12700" cap="flat" cmpd="sng">
            <a:solidFill>
              <a:srgbClr val="00E0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8305800" y="1981200"/>
            <a:ext cx="294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评委核验重点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8305800" y="2362200"/>
            <a:ext cx="2997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25000"/>
              </a:lnSpc>
              <a:buClr>
                <a:srgbClr val="D6D6DC"/>
              </a:buClr>
              <a:buChar char="•"/>
              <a:defRPr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Demo 是否真实可运行、可体验</a:t>
            </a:r>
            <a:endParaRPr lang="en-US" sz="1100"/>
          </a:p>
          <a:p>
            <a:pPr marL="152400" indent="-152400" algn="l">
              <a:lnSpc>
                <a:spcPct val="125000"/>
              </a:lnSpc>
              <a:buClr>
                <a:srgbClr val="D6D6DC"/>
              </a:buClr>
              <a:buChar char="•"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关键流程无报错、无卡顿</a:t>
            </a:r>
            <a:endParaRPr lang="en-US" sz="12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D6D6DC"/>
              </a:buClr>
              <a:buChar char="•"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异常与边界情况的容错处理</a:t>
            </a:r>
            <a:endParaRPr lang="en-US" sz="12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D6D6DC"/>
              </a:buClr>
              <a:buChar char="•"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部署说明能否被复现</a:t>
            </a:r>
            <a:endParaRPr lang="en-US" sz="12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D6D6DC"/>
              </a:buClr>
              <a:buChar char="•"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核心模块代码可供查验</a:t>
            </a:r>
            <a:endParaRPr lang="en-US" sz="12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-14817">
            <a:off x="8305814" y="4184650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 txBox="1"/>
          <p:nvPr/>
        </p:nvSpPr>
        <p:spPr>
          <a:xfrm>
            <a:off x="8305800" y="4368800"/>
            <a:ext cx="29464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现场客观环境（网络、硬件）造成的故障不扣分，但队伍自身的备用演示方案仍是必选项。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SCORING · 评分维度 03 / 03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答辩展示与成果呈现 </a:t>
            </a:r>
            <a:r>
              <a:rPr lang="en-US" sz="34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40</a:t>
            </a: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分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685800" y="1371600"/>
            <a:ext cx="965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综合路演答辩与全套提交材料打分，考核成果总结、逻辑表达与临场展示能力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800" y="1778000"/>
            <a:ext cx="6604000" cy="1168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85800" y="177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939800" y="20320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2032000" y="19558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成果材料完整性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2032000" y="2336800"/>
            <a:ext cx="5105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完整提交赛事要求的全部材料，内容详实、逻辑清晰；按缺失项梯度扣分，关键核心材料缺失本项最高计 0 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" y="3048000"/>
            <a:ext cx="6604000" cy="1168400"/>
          </a:xfrm>
          <a:prstGeom prst="roundRect">
            <a:avLst>
              <a:gd name="adj" fmla="val 0"/>
            </a:avLst>
          </a:prstGeom>
          <a:solidFill>
            <a:srgbClr val="00E0FF">
              <a:alpha val="8000"/>
            </a:srgbClr>
          </a:solidFill>
          <a:ln w="12700" cap="flat" cmpd="sng">
            <a:solidFill>
              <a:srgbClr val="00E0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85800" y="304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00E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939800" y="32766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00E0FF"/>
                </a:solidFill>
                <a:latin typeface="Anton"/>
                <a:ea typeface="Anton"/>
                <a:cs typeface="Anton"/>
                <a:sym typeface="Anton"/>
              </a:rPr>
              <a:t>20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032000" y="32258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路演答辩质量</a:t>
            </a:r>
            <a:r>
              <a:rPr lang="en-US" sz="12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单项分值最高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032000" y="3606800"/>
            <a:ext cx="5105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逻辑清晰、重点突出，讲清核心技术、创新点、痛点与落地方案；答辩专业准确，有效回应评委技术提问。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" y="4318000"/>
            <a:ext cx="6604000" cy="11684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85800" y="4318000"/>
            <a:ext cx="50800" cy="11684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939800" y="4572000"/>
            <a:ext cx="101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2032000" y="44958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整体观感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2032000" y="4876800"/>
            <a:ext cx="5105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业务逻辑形成闭环、团队分工清晰合理、成果材料排版专业完整，体现 48 小时限时高效攻坚的产出质量。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543800" y="1778000"/>
            <a:ext cx="3962400" cy="2032000"/>
          </a:xfrm>
          <a:prstGeom prst="roundRect">
            <a:avLst>
              <a:gd name="adj" fmla="val 0"/>
            </a:avLst>
          </a:prstGeom>
          <a:solidFill>
            <a:srgbClr val="E2202D">
              <a:alpha val="14000"/>
            </a:srgbClr>
          </a:solidFill>
          <a:ln w="12700" cap="flat" cmpd="sng">
            <a:solidFill>
              <a:srgbClr val="E2202D">
                <a:alpha val="7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7797800" y="1981200"/>
            <a:ext cx="34544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5:00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7797800" y="2946400"/>
            <a:ext cx="3454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路演展示硬时限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7797800" y="3276600"/>
            <a:ext cx="3505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严格执行 5 分钟计时，超时将终止汇报并酌情扣分，请自行预留缓冲时间。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543800" y="4013200"/>
            <a:ext cx="3962400" cy="14732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7797800" y="4191000"/>
            <a:ext cx="345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全套材料清单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7797800" y="4546600"/>
            <a:ext cx="35052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项目文档　·　技术报告　·　展示 PPT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演示视频　·　源码　·　部署说明</a:t>
            </a:r>
            <a:endParaRPr lang="en-US" sz="12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 txBox="1"/>
          <p:nvPr/>
        </p:nvSpPr>
        <p:spPr>
          <a:xfrm>
            <a:off x="685800" y="59182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8C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注：路演结束后接受评委现场提问，提问环节表现计入路演答辩质量评分。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 JUDGING · 评审机制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双轨制评审：</a:t>
            </a:r>
            <a:r>
              <a:rPr lang="zh-CN" alt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专项</a:t>
            </a: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评审 × 专业评审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1473200"/>
            <a:ext cx="812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85800" y="1701800"/>
            <a:ext cx="5283200" cy="41402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E2202D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85800" y="1701800"/>
            <a:ext cx="5283200" cy="711200"/>
          </a:xfrm>
          <a:prstGeom prst="roundRect">
            <a:avLst>
              <a:gd name="adj" fmla="val 0"/>
            </a:avLst>
          </a:prstGeom>
          <a:solidFill>
            <a:srgbClr val="E220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1892300"/>
            <a:ext cx="330200" cy="330200"/>
          </a:xfrm>
          <a:prstGeom prst="rect">
            <a:avLst/>
          </a:prstGeom>
        </p:spPr>
      </p:pic>
      <p:sp>
        <p:nvSpPr>
          <p:cNvPr id="9" name="AutoShape 9"/>
          <p:cNvSpPr txBox="1"/>
          <p:nvPr/>
        </p:nvSpPr>
        <p:spPr>
          <a:xfrm>
            <a:off x="1422400" y="18288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专项</a:t>
            </a: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评审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422400" y="2133600"/>
            <a:ext cx="304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VOTE · </a:t>
            </a:r>
            <a:r>
              <a:rPr lang="zh-CN" altLang="en-US" sz="11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品牌代表打分</a:t>
            </a:r>
            <a:endParaRPr lang="zh-CN" altLang="en-US" sz="11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965200" y="26162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形式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854200" y="2616200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展区开放展示，</a:t>
            </a:r>
            <a:r>
              <a:rPr lang="zh-CN" alt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合作单位代表打分</a:t>
            </a:r>
            <a:endParaRPr lang="zh-CN" altLang="en-US" sz="12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9241">
            <a:off x="965209" y="30162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965200" y="31750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</a:t>
            </a:r>
            <a:endParaRPr lang="zh-CN" altLang="en-US" sz="1200" b="1" i="0" u="none" strike="noStrike">
              <a:solidFill>
                <a:srgbClr val="E220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1854200" y="3175000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针对具体专项</a:t>
            </a:r>
            <a:endParaRPr lang="zh-CN" altLang="en-US" sz="1200" b="0" i="0" u="none" strike="noStrike">
              <a:solidFill>
                <a:srgbClr val="D6D6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9241">
            <a:off x="965209" y="35750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 txBox="1"/>
          <p:nvPr/>
        </p:nvSpPr>
        <p:spPr>
          <a:xfrm>
            <a:off x="965200" y="37338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854200" y="3733800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联育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HardTech</a:t>
            </a:r>
            <a:r>
              <a:rPr lang="zh-CN" alt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奖、影眸科技专项奖</a:t>
            </a:r>
            <a:endParaRPr lang="zh-CN" altLang="en-US" sz="1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9241">
            <a:off x="965209" y="41338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965200" y="42926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计分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854200" y="4292600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不计入主赛道综合得分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41">
            <a:off x="965209" y="46926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 txBox="1"/>
          <p:nvPr/>
        </p:nvSpPr>
        <p:spPr>
          <a:xfrm>
            <a:off x="965200" y="48514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个数</a:t>
            </a:r>
            <a:endParaRPr lang="zh-CN" altLang="en-US" sz="1200" b="1" i="0" u="none" strike="noStrike">
              <a:solidFill>
                <a:srgbClr val="E2202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 txBox="1"/>
          <p:nvPr/>
        </p:nvSpPr>
        <p:spPr>
          <a:xfrm>
            <a:off x="1854200" y="4851400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由组委会结合现场体验情况裁定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9241">
            <a:off x="965209" y="52514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 txBox="1"/>
          <p:nvPr/>
        </p:nvSpPr>
        <p:spPr>
          <a:xfrm>
            <a:off x="965200" y="5410200"/>
            <a:ext cx="4724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考察</a:t>
            </a:r>
            <a:r>
              <a:rPr lang="zh-CN" altLang="en-US" sz="11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具体方向的综合实力</a:t>
            </a:r>
            <a:endParaRPr lang="zh-CN" altLang="en-US" sz="1100" b="0" i="0" u="none" strike="noStrike">
              <a:solidFill>
                <a:srgbClr val="B4B4B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223000" y="1701800"/>
            <a:ext cx="5283200" cy="41402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00E0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223000" y="1701800"/>
            <a:ext cx="5283200" cy="711200"/>
          </a:xfrm>
          <a:prstGeom prst="roundRect">
            <a:avLst>
              <a:gd name="adj" fmla="val 0"/>
            </a:avLst>
          </a:prstGeom>
          <a:solidFill>
            <a:srgbClr val="0096A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2400" y="1892300"/>
            <a:ext cx="330200" cy="330200"/>
          </a:xfrm>
          <a:prstGeom prst="rect">
            <a:avLst/>
          </a:prstGeom>
        </p:spPr>
      </p:pic>
      <p:sp>
        <p:nvSpPr>
          <p:cNvPr id="30" name="AutoShape 30"/>
          <p:cNvSpPr txBox="1"/>
          <p:nvPr/>
        </p:nvSpPr>
        <p:spPr>
          <a:xfrm>
            <a:off x="6959600" y="18288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专业评审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959600" y="21336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PROFESSIONAL JUDGES · 打分制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502400" y="26162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构成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7391400" y="2616200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教师、技术导师、赞助商代表、行业嘉宾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9241">
            <a:off x="6502409" y="30162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 txBox="1"/>
          <p:nvPr/>
        </p:nvSpPr>
        <p:spPr>
          <a:xfrm>
            <a:off x="6502400" y="31750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回避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7391400" y="3175000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评委不参与本人指导队伍的打分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9241">
            <a:off x="6502409" y="35750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 txBox="1"/>
          <p:nvPr/>
        </p:nvSpPr>
        <p:spPr>
          <a:xfrm>
            <a:off x="6502400" y="37338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7391400" y="3733800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展示环节巡场评分 + 5 分钟路演答辩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9241">
            <a:off x="6502409" y="41338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 txBox="1"/>
          <p:nvPr/>
        </p:nvSpPr>
        <p:spPr>
          <a:xfrm>
            <a:off x="6502400" y="42926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计分</a:t>
            </a:r>
            <a:endParaRPr lang="en-US" sz="1100"/>
          </a:p>
        </p:txBody>
      </p:sp>
      <p:sp>
        <p:nvSpPr>
          <p:cNvPr id="42" name="AutoShape 42"/>
          <p:cNvSpPr txBox="1"/>
          <p:nvPr/>
        </p:nvSpPr>
        <p:spPr>
          <a:xfrm>
            <a:off x="7391400" y="4292600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6D6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巡场评分与路演得分加权汇总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-9241">
            <a:off x="6502409" y="46926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AutoShape 44"/>
          <p:cNvSpPr txBox="1"/>
          <p:nvPr/>
        </p:nvSpPr>
        <p:spPr>
          <a:xfrm>
            <a:off x="6502400" y="4851400"/>
            <a:ext cx="76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7391400" y="4851400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全场大奖及各等级综合奖项</a:t>
            </a:r>
            <a:endParaRPr lang="en-US" sz="1100"/>
          </a:p>
        </p:txBody>
      </p:sp>
      <p:cxnSp>
        <p:nvCxnSpPr>
          <p:cNvPr id="46" name="Connector 46"/>
          <p:cNvCxnSpPr/>
          <p:nvPr/>
        </p:nvCxnSpPr>
        <p:spPr>
          <a:xfrm rot="-9241">
            <a:off x="6502409" y="52514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 txBox="1"/>
          <p:nvPr/>
        </p:nvSpPr>
        <p:spPr>
          <a:xfrm>
            <a:off x="6502400" y="5410200"/>
            <a:ext cx="4724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4B4B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综合得分决定主赛道全部综合奖项排名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685800" y="6019800"/>
            <a:ext cx="1041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9" name="AutoShape 49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 JUDGING · 评审机制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评审全流程：从提交到颁奖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1473200"/>
            <a:ext cx="812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-24554">
            <a:off x="1651023" y="2254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2202D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" name="Connector 7"/>
          <p:cNvCxnSpPr/>
          <p:nvPr/>
        </p:nvCxnSpPr>
        <p:spPr>
          <a:xfrm rot="-24554">
            <a:off x="3937023" y="2254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2202D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" name="Connector 8"/>
          <p:cNvCxnSpPr/>
          <p:nvPr/>
        </p:nvCxnSpPr>
        <p:spPr>
          <a:xfrm rot="-24554">
            <a:off x="6223023" y="2254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2202D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9"/>
          <p:cNvCxnSpPr/>
          <p:nvPr/>
        </p:nvCxnSpPr>
        <p:spPr>
          <a:xfrm rot="-24554">
            <a:off x="8509023" y="22542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2202D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168400" y="2032000"/>
            <a:ext cx="457200" cy="457200"/>
          </a:xfrm>
          <a:prstGeom prst="ellipse">
            <a:avLst/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1168400" y="2082800"/>
            <a:ext cx="457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81000" y="2641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作品提交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04800" y="2971800"/>
            <a:ext cx="2184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48h 结束前通过指定表单提交全部材料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54400" y="2032000"/>
            <a:ext cx="457200" cy="457200"/>
          </a:xfrm>
          <a:prstGeom prst="ellipse">
            <a:avLst/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3454400" y="2082800"/>
            <a:ext cx="457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2667000" y="2641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资格审核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2590800" y="2971800"/>
            <a:ext cx="2184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组委会审核材料完整性，通过后方可入围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740400" y="2032000"/>
            <a:ext cx="457200" cy="457200"/>
          </a:xfrm>
          <a:prstGeom prst="ellipse">
            <a:avLst/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5740400" y="2082800"/>
            <a:ext cx="457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4953000" y="2641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游园互评 · 巡场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4876800" y="2971800"/>
            <a:ext cx="2184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展区开放体验与贴纸投票，评委同步巡场评分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26400" y="2032000"/>
            <a:ext cx="457200" cy="457200"/>
          </a:xfrm>
          <a:prstGeom prst="ellipse">
            <a:avLst/>
          </a:prstGeom>
          <a:solidFill>
            <a:srgbClr val="00E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8026400" y="2082800"/>
            <a:ext cx="457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80A0E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7239000" y="2641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路演答辩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7162800" y="2971800"/>
            <a:ext cx="21844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 分钟正式展示，结束后接受评委提问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312400" y="2032000"/>
            <a:ext cx="457200" cy="457200"/>
          </a:xfrm>
          <a:prstGeom prst="ellipse">
            <a:avLst/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 txBox="1"/>
          <p:nvPr/>
        </p:nvSpPr>
        <p:spPr>
          <a:xfrm>
            <a:off x="10312400" y="2082800"/>
            <a:ext cx="457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05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525000" y="2641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加权颁奖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9398000" y="2971800"/>
            <a:ext cx="228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3000"/>
              </a:lnSpc>
              <a:defRPr/>
            </a:pPr>
            <a:r>
              <a:rPr lang="en-US" sz="11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巡场与路演得分加权，产出综合奖项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85800" y="3886200"/>
            <a:ext cx="5283200" cy="19050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41148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 txBox="1"/>
          <p:nvPr/>
        </p:nvSpPr>
        <p:spPr>
          <a:xfrm>
            <a:off x="1397000" y="4089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评委回避制度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965200" y="4572000"/>
            <a:ext cx="4724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赛事执行评委回避制度：评委不得参与本人所指导队伍的打分工作，从机制上保障评审公平。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23000" y="3886200"/>
            <a:ext cx="5283200" cy="1905000"/>
          </a:xfrm>
          <a:prstGeom prst="roundRect">
            <a:avLst>
              <a:gd name="adj" fmla="val 0"/>
            </a:avLst>
          </a:prstGeom>
          <a:solidFill>
            <a:srgbClr val="00E0FF">
              <a:alpha val="7000"/>
            </a:srgbClr>
          </a:solidFill>
          <a:ln w="12700" cap="flat" cmpd="sng">
            <a:solidFill>
              <a:srgbClr val="00E0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502400" y="4140200"/>
            <a:ext cx="279400" cy="254000"/>
          </a:xfrm>
          <a:prstGeom prst="triangle">
            <a:avLst/>
          </a:prstGeom>
          <a:solidFill>
            <a:srgbClr val="00E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 txBox="1"/>
          <p:nvPr/>
        </p:nvSpPr>
        <p:spPr>
          <a:xfrm>
            <a:off x="6934200" y="40894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额外展示机会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6502400" y="4521200"/>
            <a:ext cx="47244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适合面向 C 端用户的优秀项目，组委会可推荐进入 AI 应用商店展览或表演赛环节。该环节不直接影响主赛道排名，仅提供展示渠道、不构成官方背书；项目全部知识产权仍归参赛队伍所有。</a:t>
            </a:r>
            <a:endParaRPr lang="en-US" sz="1100"/>
          </a:p>
        </p:txBody>
      </p:sp>
      <p:sp>
        <p:nvSpPr>
          <p:cNvPr id="38" name="AutoShape 38"/>
          <p:cNvSpPr txBox="1"/>
          <p:nvPr/>
        </p:nvSpPr>
        <p:spPr>
          <a:xfrm>
            <a:off x="685800" y="5994400"/>
            <a:ext cx="1041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8C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注：最终综合得分 = 巡场评分与路演答辩得分加权汇总；全场大奖及各等级奖项均依据该得分产出。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AWARDS · 奖项设置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奖项设置：综合奖项 + 单项奖项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1473200"/>
            <a:ext cx="812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85800" y="1701800"/>
            <a:ext cx="10820400" cy="26416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E2202D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1981200"/>
            <a:ext cx="431800" cy="431800"/>
          </a:xfrm>
          <a:prstGeom prst="rect">
            <a:avLst/>
          </a:prstGeom>
        </p:spPr>
      </p:pic>
      <p:sp>
        <p:nvSpPr>
          <p:cNvPr id="8" name="AutoShape 8"/>
          <p:cNvSpPr txBox="1"/>
          <p:nvPr/>
        </p:nvSpPr>
        <p:spPr>
          <a:xfrm>
            <a:off x="1549400" y="2006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综合奖项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990600" y="2616200"/>
            <a:ext cx="355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全场大奖</a:t>
            </a:r>
            <a:r>
              <a:rPr lang="zh-CN" alt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：一等奖（</a:t>
            </a:r>
            <a:r>
              <a:rPr lang="en-US" altLang="zh-CN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组）</a:t>
            </a:r>
            <a:endParaRPr lang="zh-CN" altLang="en-US" sz="2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990600" y="3098800"/>
            <a:ext cx="3556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E2202D"/>
                </a:solidFill>
                <a:latin typeface="Anton"/>
                <a:ea typeface="Anton"/>
                <a:cs typeface="Anton"/>
                <a:sym typeface="Anton"/>
              </a:rPr>
              <a:t>¥10,000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990600" y="39624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969E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GRAND PRIZE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78779">
            <a:off x="3695700" y="3028970"/>
            <a:ext cx="205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5029200" y="1981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等级奖项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29200" y="2438400"/>
            <a:ext cx="1498600" cy="889000"/>
          </a:xfrm>
          <a:prstGeom prst="roundRect">
            <a:avLst>
              <a:gd name="adj" fmla="val 0"/>
            </a:avLst>
          </a:prstGeom>
          <a:solidFill>
            <a:srgbClr val="E2202D">
              <a:alpha val="16000"/>
            </a:srgbClr>
          </a:solidFill>
          <a:ln w="12700" cap="flat" cmpd="sng">
            <a:solidFill>
              <a:srgbClr val="E2202D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5029200" y="2667000"/>
            <a:ext cx="1498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一等奖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54800" y="2438400"/>
            <a:ext cx="14986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6654800" y="2667000"/>
            <a:ext cx="1498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二等奖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80400" y="2438400"/>
            <a:ext cx="14986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8280400" y="2667000"/>
            <a:ext cx="1498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三等奖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906000" y="2438400"/>
            <a:ext cx="14224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9906000" y="2667000"/>
            <a:ext cx="1422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优秀奖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5029200" y="3556000"/>
            <a:ext cx="629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B9B9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综合奖项全部依据专业评审的巡场评分与路演答辩加权得分产生。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" y="4546600"/>
            <a:ext cx="5283200" cy="13716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85800" y="4546600"/>
            <a:ext cx="50800" cy="1371600"/>
          </a:xfrm>
          <a:prstGeom prst="roundRect">
            <a:avLst>
              <a:gd name="adj" fmla="val 0"/>
            </a:avLst>
          </a:prstGeom>
          <a:solidFill>
            <a:srgbClr val="00E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965200" y="47498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7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联育孵化器：</a:t>
            </a:r>
            <a:r>
              <a:rPr lang="en-US" sz="1700" b="1" i="0" u="none" strike="noStrike">
                <a:solidFill>
                  <a:srgbClr val="00E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DeepTech 奖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965200" y="5130800"/>
            <a:ext cx="48514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5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表彰敢于攻克技术难点，在算法、硬件、底层工程实现方面实现技术突破的硬核技术向项目；由专业评审评定，颁发证书与奖励。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23000" y="4546600"/>
            <a:ext cx="5283200" cy="13716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223000" y="4546600"/>
            <a:ext cx="50800" cy="13716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 txBox="1"/>
          <p:nvPr/>
        </p:nvSpPr>
        <p:spPr>
          <a:xfrm>
            <a:off x="6502400" y="47498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7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影眸科技：</a:t>
            </a:r>
            <a:r>
              <a:rPr lang="en-US" altLang="zh-CN" sz="17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Rodin Selected Award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6502400" y="5130800"/>
            <a:ext cx="48514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zh-CN" altLang="en-US" sz="115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具体内容见后续解说</a:t>
            </a:r>
            <a:endParaRPr lang="zh-CN" altLang="en-US" sz="1150" b="0" i="0" u="none" strike="noStrike">
              <a:solidFill>
                <a:srgbClr val="BEBEC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 txBox="1"/>
          <p:nvPr/>
        </p:nvSpPr>
        <p:spPr>
          <a:xfrm>
            <a:off x="685800" y="6070600"/>
            <a:ext cx="1066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8C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注：全部奖项名额、奖金、奖品与奖项最终名称以赛前正式公告为准；同一支队伍可同时斩获综合奖项与单项奖项。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685800" y="50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05 NOTICE · 其他说明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685800" y="8128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参赛红线与规则说明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1473200"/>
            <a:ext cx="812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85800" y="1701800"/>
            <a:ext cx="5283200" cy="4140200"/>
          </a:xfrm>
          <a:prstGeom prst="roundRect">
            <a:avLst>
              <a:gd name="adj" fmla="val 0"/>
            </a:avLst>
          </a:prstGeom>
          <a:solidFill>
            <a:srgbClr val="E2202D">
              <a:alpha val="10000"/>
            </a:srgbClr>
          </a:solidFill>
          <a:ln w="12700" cap="flat" cmpd="sng">
            <a:solidFill>
              <a:srgbClr val="E2202D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1955800"/>
            <a:ext cx="330200" cy="330200"/>
          </a:xfrm>
          <a:prstGeom prst="rect">
            <a:avLst/>
          </a:prstGeom>
        </p:spPr>
      </p:pic>
      <p:sp>
        <p:nvSpPr>
          <p:cNvPr id="8" name="AutoShape 8"/>
          <p:cNvSpPr txBox="1"/>
          <p:nvPr/>
        </p:nvSpPr>
        <p:spPr>
          <a:xfrm>
            <a:off x="1422400" y="19558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以下情形将被取消参赛资格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41">
            <a:off x="965209" y="24828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202D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65200" y="2768600"/>
            <a:ext cx="101600" cy="1016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1244600" y="26670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抄袭、剽窃、套壳他人作品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65200" y="3454400"/>
            <a:ext cx="101600" cy="1016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1244600" y="33528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伪造、虚报参赛材料或团队信息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65200" y="4140200"/>
            <a:ext cx="101600" cy="1016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1244600" y="40386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无故缺席路演展示环节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65200" y="4826000"/>
            <a:ext cx="101600" cy="1016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1244600" y="47244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违反赛事规则、扰乱比赛秩序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965200" y="5334000"/>
            <a:ext cx="4724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D696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资格核查贯穿提交、展示与路演全过程，一经核实立即取消成绩与评奖资格。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1701800"/>
            <a:ext cx="5283200" cy="19812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2400" y="1930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 txBox="1"/>
          <p:nvPr/>
        </p:nvSpPr>
        <p:spPr>
          <a:xfrm>
            <a:off x="6934200" y="1905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知识产权归属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6502400" y="2387600"/>
            <a:ext cx="47244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参赛项目的全部知识产权归参赛团队所有。组委会享有非商业性质的公开展示、宣传及案例汇编使用权，不用于任何商业用途。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860800"/>
            <a:ext cx="5283200" cy="1981200"/>
          </a:xfrm>
          <a:prstGeom prst="roundRect">
            <a:avLst>
              <a:gd name="adj" fmla="val 0"/>
            </a:avLst>
          </a:prstGeom>
          <a:solidFill>
            <a:srgbClr val="121218">
              <a:alpha val="72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2400" y="4089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 txBox="1"/>
          <p:nvPr/>
        </p:nvSpPr>
        <p:spPr>
          <a:xfrm>
            <a:off x="6934200" y="4064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解释权与信息发布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6502400" y="4546600"/>
            <a:ext cx="47244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本评审机制预案的最终解释权归 Techathon 组委会所有。规则如有调整，将通过官方渠道统一发布，请各队伍以最新公告为准。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10922000" y="6350000"/>
            <a:ext cx="584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1016000" y="12192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TECHATHON 2026 · JUDGING BRIEFING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1778000"/>
            <a:ext cx="10668000" cy="149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2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JUST MAKE IT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33274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开造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62600" y="4267200"/>
            <a:ext cx="1066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16000" y="44450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答疑环节 · Q&amp;A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524000" y="5384800"/>
            <a:ext cx="914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关于作品提交、评分标准、评审流程与奖项设置的任何问题，欢迎现场提出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6138">
            <a:off x="2540006" y="5835650"/>
            <a:ext cx="711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1016000" y="59944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6D6D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2026.10.17　·　会议中心西厅　·　T.I_E × GeekPie_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6350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8C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祝各支队伍 48 小时尽兴创造，作品顺利落地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1016000" y="12192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2202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TECHATHON 2026 · JUDGING BRIEFING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1778000"/>
            <a:ext cx="10668000" cy="149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200" b="1" i="0" u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JUST MAKE IT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33274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220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开造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62600" y="4267200"/>
            <a:ext cx="1066800" cy="38100"/>
          </a:xfrm>
          <a:prstGeom prst="roundRect">
            <a:avLst>
              <a:gd name="adj" fmla="val 0"/>
            </a:avLst>
          </a:prstGeom>
          <a:solidFill>
            <a:srgbClr val="E220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16000" y="44450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答疑环节 · Q&amp;A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524000" y="5384800"/>
            <a:ext cx="914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EBEC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关于作品提交、评分标准、评审流程与奖项设置的任何问题，欢迎现场提出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6138">
            <a:off x="2540006" y="5835650"/>
            <a:ext cx="711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1016000" y="59944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6D6D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2026.10.17　·　会议中心西厅　·　T.I_E × GeekPie_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6350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8C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祝各支队伍 48 小时尽兴创造，作品顺利落地</a:t>
            </a:r>
            <a:endParaRPr lang="en-US" sz="11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787140"/>
            <a:ext cx="1930400" cy="184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3886</Words>
  <Application>WPS 演示</Application>
  <PresentationFormat/>
  <Paragraphs>528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Arial</vt:lpstr>
      <vt:lpstr>Barlow Condensed</vt:lpstr>
      <vt:lpstr>Segoe Print</vt:lpstr>
      <vt:lpstr>Anton</vt:lpstr>
      <vt:lpstr>Noto Sans SC</vt:lpstr>
      <vt:lpstr>微软雅黑</vt:lpstr>
      <vt:lpstr>Arial Unicode MS</vt:lpstr>
      <vt:lpstr>Anton</vt:lpstr>
      <vt:lpstr>Barlow Condensed</vt:lpstr>
      <vt:lpstr>Hiragino Sans GB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阳光</cp:lastModifiedBy>
  <cp:revision>4</cp:revision>
  <dcterms:created xsi:type="dcterms:W3CDTF">2026-10-09T08:27:05Z</dcterms:created>
  <dcterms:modified xsi:type="dcterms:W3CDTF">2026-10-10T08:06:11Z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EF47DC14262D4CF095C48F704A146BC9_13</vt:lpwstr>
  </property>
  <property fmtid="{D5CDD505-2E9C-101B-9397-08002B2CF9AE}" pid="3" name="KSOProductBuildVer">
    <vt:lpwstr>2052-12.1.0.28505</vt:lpwstr>
  </property>
</Properties>
</file>