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82893"/>
  </p:normalViewPr>
  <p:slideViewPr>
    <p:cSldViewPr snapToGrid="0">
      <p:cViewPr varScale="1">
        <p:scale>
          <a:sx n="132" d="100"/>
          <a:sy n="132" d="100"/>
        </p:scale>
        <p:origin x="83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视频与演示约 120 秒</a:t>
            </a:r>
          </a:p>
          <a:p>
            <a:endParaRPr/>
          </a:p>
          <a:p>
            <a:r>
              <a:t>这是我们的产品，Mind Box。物品放取的过程，自动记录；想找物品的时候，定位到所在抽屉。请看演示。</a:t>
            </a:r>
          </a:p>
          <a:p>
            <a:endParaRPr/>
          </a:p>
          <a:p>
            <a:r>
              <a:t>演示：取出物品、存入物品，同时交代提醒。随后展示语音查找与提醒。</a:t>
            </a:r>
          </a:p>
          <a:p>
            <a:endParaRPr/>
          </a:p>
          <a:p>
            <a:r>
              <a:t>来源</a:t>
            </a:r>
          </a:p>
          <a:p>
            <a:r>
              <a:t>产品定义：用户提供的演讲稿。</a:t>
            </a:r>
          </a:p>
          <a:p>
            <a:r>
              <a:t>产品画面：项目 WebUI 原有 3D 柜体模型截图，非实物照片。</a:t>
            </a:r>
          </a:p>
          <a:p>
            <a:r>
              <a:t>/Users/cao/MindBox/code/webui/cabinet.js</a:t>
            </a:r>
          </a:p>
          <a:p>
            <a:r>
              <a:t>视觉参考：https://www.apple.com/apple-events/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00:00–00:12，约 12 秒</a:t>
            </a:r>
          </a:p>
          <a:p>
            <a:endParaRPr/>
          </a:p>
          <a:p>
            <a:r>
              <a:t>刚才大家看到的，就是 Mind Box。物品放入、取出，系统自动留下记录。需要的时候，可以问它物品在哪里，也可以直接交代一条提醒。</a:t>
            </a:r>
          </a:p>
          <a:p>
            <a:endParaRPr/>
          </a:p>
          <a:p>
            <a:r>
              <a:t>来源</a:t>
            </a:r>
          </a:p>
          <a:p>
            <a:r>
              <a:t>/Users/cao/MindBox/code/backend/app/automatic.py</a:t>
            </a:r>
          </a:p>
          <a:p>
            <a:r>
              <a:t>/Users/cao/MindBox/code/backend/app/voice_api.py</a:t>
            </a:r>
          </a:p>
          <a:p>
            <a:r>
              <a:t>/Users/cao/MindBox/code/backend/app/live_tasks.py</a:t>
            </a:r>
          </a:p>
          <a:p>
            <a:r>
              <a:t>/Users/cao/MindBox/code/webui/README.md</a:t>
            </a:r>
          </a:p>
          <a:p>
            <a:r>
              <a:t>截图为本地实际 WebUI，保留当时页面状态。代码已包含这些功能；文档仍将实柜音画联合验收列为待完成事项。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00:34–00:50，约 16 秒</a:t>
            </a:r>
          </a:p>
          <a:p>
            <a:endParaRPr/>
          </a:p>
          <a:p>
            <a:r>
              <a:t>所以，我们也完成了带认证的 API。个人 Agent 获得授权后，就能读取物品、位置和取放记录。未来，像 Muse 这样的个人 Agent，也可以接进来，成为了解我们生活的管家。</a:t>
            </a:r>
          </a:p>
          <a:p>
            <a:endParaRPr/>
          </a:p>
          <a:p>
            <a:r>
              <a:t>来源</a:t>
            </a:r>
          </a:p>
          <a:p>
            <a:r>
              <a:t>/Users/cao/MindBox/code/backend/app/agent_server.py</a:t>
            </a:r>
          </a:p>
          <a:p>
            <a:r>
              <a:t>/Users/cao/MindBox/code/backend/app/api_keys.py</a:t>
            </a:r>
          </a:p>
          <a:p>
            <a:r>
              <a:t>/Users/cao/MindBox/code/backend/tests/test_agent_api.py</a:t>
            </a:r>
          </a:p>
          <a:p>
            <a:r>
              <a:t>/Users/cao/MindBox/code/doc/agent-api-plan.md</a:t>
            </a:r>
          </a:p>
          <a:p>
            <a:r>
              <a:t>现有实现为本机带认证的只读查询接口。Muse 是未来接入举例，项目材料未证明已完成 Muse 客户端验收。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00:50–01:04，约 14 秒</a:t>
            </a:r>
          </a:p>
          <a:p>
            <a:endParaRPr/>
          </a:p>
          <a:p>
            <a:r>
              <a:t>Mind Box 想解决的，是一个很日常的矛盾：人的注意力有限，要管理的物品却越来越多。我们总会把注意力放在重要的事情上，而收纳，也不该持续占用这份宝贵的注意力。</a:t>
            </a:r>
          </a:p>
          <a:p>
            <a:endParaRPr/>
          </a:p>
          <a:p>
            <a:r>
              <a:t>来源</a:t>
            </a:r>
          </a:p>
          <a:p>
            <a:r>
              <a:t>价值主张：用户提供的演讲稿。不作为量化研究或统计结论。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01:04–01:17，约 13 秒</a:t>
            </a:r>
          </a:p>
          <a:p>
            <a:endParaRPr/>
          </a:p>
          <a:p>
            <a:r>
              <a:t>如果你善于收纳，Mind Box 帮你更有条理，把精力留给重要的事。如果你不善收纳，那更欢迎你，因为它就是为我们这样的人打造的。</a:t>
            </a:r>
          </a:p>
          <a:p>
            <a:endParaRPr/>
          </a:p>
          <a:p>
            <a:r>
              <a:t>来源</a:t>
            </a:r>
          </a:p>
          <a:p>
            <a:r>
              <a:t>用户定位：用户提供的演讲稿。</a:t>
            </a:r>
          </a:p>
          <a:p>
            <a:r>
              <a:t>项目柜体参考实拍：/Users/cao/MindBox/code/webui/public/models/reference-03-FL.webp</a:t>
            </a:r>
          </a:p>
          <a:p>
            <a:r>
              <a:t>原图来源说明：/Users/cao/MindBox/code/webui/public/models/SOURCES.md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01:17–01:22，约 5 秒</a:t>
            </a:r>
          </a:p>
          <a:p>
            <a:endParaRPr/>
          </a:p>
          <a:p>
            <a:r>
              <a:t>让我们把繁杂的，交给 AI。</a:t>
            </a:r>
          </a:p>
          <a:p>
            <a:endParaRPr/>
          </a:p>
          <a:p>
            <a:r>
              <a:t>来源</a:t>
            </a:r>
          </a:p>
          <a:p>
            <a:r>
              <a:t>用户提供的演讲稿。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 01:22–01:30，约 8 秒</a:t>
            </a:r>
          </a:p>
          <a:p>
            <a:endParaRPr/>
          </a:p>
          <a:p>
            <a:r>
              <a:t>把情感、创造和生活，留给人类。Mind Box，谢谢大家。</a:t>
            </a:r>
          </a:p>
          <a:p>
            <a:endParaRPr/>
          </a:p>
          <a:p>
            <a:r>
              <a:t>来源</a:t>
            </a:r>
          </a:p>
          <a:p>
            <a:r>
              <a:t>用户提供的演讲稿。</a:t>
            </a:r>
          </a:p>
          <a:p>
            <a:r>
              <a:t>生活配图：Sebastian Monroy / Unsplash，Unsplash License。</a:t>
            </a:r>
          </a:p>
          <a:p>
            <a:r>
              <a:t>https://unsplash.com/photos/hands-shaping-a-clay-pot-with-pottery-tools-OloJS1Eo0B4</a:t>
            </a:r>
          </a:p>
          <a:p>
            <a:r>
              <a:t>图片表达人的创造活动，并非团队工作现场。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BC09AA3-5EE2-47D7-BA62-B8273D5D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9718C4E-05B5-4C81-813E-59F738503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50C0D20-8A5D-469B-A03D-D4402E53F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FD86313-EC1D-44B2-9B71-10FD385D1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FF57B02-99C5-4877-80B4-C92696EBF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F0DBA24-BB6F-47D4-AC14-390DE528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23A6C96-294C-4A62-966C-C6D9AB138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D83C72D-426A-4BEC-824D-EAD1448D0F6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1B3E82C-B39A-4344-AAD1-756AC62E2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92EA750-B518-4A3F-842F-9F7F2E829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13B107-AB81-49A5-AA49-536800238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67350" y="706838"/>
            <a:ext cx="6438900" cy="5711024"/>
          </a:xfrm>
          <a:prstGeom prst="rect">
            <a:avLst/>
          </a:prstGeom>
        </p:spPr>
      </p:pic>
      <p:sp>
        <p:nvSpPr>
          <p:cNvPr id="2" name="brand">
            <a:extLst>
              <a:ext uri="{FF2B5EF4-FFF2-40B4-BE49-F238E27FC236}">
                <a16:creationId xmlns:a16="http://schemas.microsoft.com/office/drawing/2014/main" id="{9300F10B-AB7F-4D7B-9912-1959DF796B36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57150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7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Mind Box</a:t>
            </a:r>
          </a:p>
        </p:txBody>
      </p:sp>
      <p:sp>
        <p:nvSpPr>
          <p:cNvPr id="3" name="category">
            <a:extLst>
              <a:ext uri="{FF2B5EF4-FFF2-40B4-BE49-F238E27FC236}">
                <a16:creationId xmlns:a16="http://schemas.microsoft.com/office/drawing/2014/main" id="{16E52630-AE9E-43BD-94F2-A18A2EA0B4A3}"/>
              </a:ext>
            </a:extLst>
          </p:cNvPr>
          <p:cNvSpPr>
            <a:spLocks noGrp="1"/>
          </p:cNvSpPr>
          <p:nvPr/>
        </p:nvSpPr>
        <p:spPr>
          <a:xfrm>
            <a:off x="838200" y="3514725"/>
            <a:ext cx="45720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0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550" b="0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物品无感智能收纳</a:t>
            </a:r>
          </a:p>
        </p:txBody>
      </p:sp>
    </p:spTree>
    <p:extLst>
      <p:ext uri="{BB962C8B-B14F-4D97-AF65-F5344CB8AC3E}">
        <p14:creationId xmlns:p14="http://schemas.microsoft.com/office/powerpoint/2010/main" val="190074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member">
            <a:extLst>
              <a:ext uri="{FF2B5EF4-FFF2-40B4-BE49-F238E27FC236}">
                <a16:creationId xmlns:a16="http://schemas.microsoft.com/office/drawing/2014/main" id="{6112D0DC-10ED-4FFB-B987-891E8518FD86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47625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取放，全程记得</a:t>
            </a:r>
          </a:p>
        </p:txBody>
      </p:sp>
      <p:sp>
        <p:nvSpPr>
          <p:cNvPr id="2" name="find">
            <a:extLst>
              <a:ext uri="{FF2B5EF4-FFF2-40B4-BE49-F238E27FC236}">
                <a16:creationId xmlns:a16="http://schemas.microsoft.com/office/drawing/2014/main" id="{4A402E2F-42A4-4B01-9385-2927B76AA1A2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47625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想找，一问就知道</a:t>
            </a:r>
          </a:p>
        </p:txBody>
      </p:sp>
      <p:sp>
        <p:nvSpPr>
          <p:cNvPr id="3" name="feature-summary">
            <a:extLst>
              <a:ext uri="{FF2B5EF4-FFF2-40B4-BE49-F238E27FC236}">
                <a16:creationId xmlns:a16="http://schemas.microsoft.com/office/drawing/2014/main" id="{1B6EF779-E5DB-4BBF-8836-7DCBA2CF1A75}"/>
              </a:ext>
            </a:extLst>
          </p:cNvPr>
          <p:cNvSpPr>
            <a:spLocks noGrp="1"/>
          </p:cNvSpPr>
          <p:nvPr/>
        </p:nvSpPr>
        <p:spPr>
          <a:xfrm>
            <a:off x="781050" y="4124325"/>
            <a:ext cx="40005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dirty="0" err="1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自动记录取放</a:t>
            </a:r>
            <a:endParaRPr sz="2100" b="0" dirty="0">
              <a:solidFill>
                <a:srgbClr val="74747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voice-reminders">
            <a:extLst>
              <a:ext uri="{FF2B5EF4-FFF2-40B4-BE49-F238E27FC236}">
                <a16:creationId xmlns:a16="http://schemas.microsoft.com/office/drawing/2014/main" id="{FDA79205-8DCB-4534-80C6-4C97FAFAFB68}"/>
              </a:ext>
            </a:extLst>
          </p:cNvPr>
          <p:cNvSpPr>
            <a:spLocks noGrp="1"/>
          </p:cNvSpPr>
          <p:nvPr/>
        </p:nvSpPr>
        <p:spPr>
          <a:xfrm>
            <a:off x="781050" y="4572000"/>
            <a:ext cx="40005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语音查找与定时提醒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8C0507-BE41-4341-8040-B9BD4FA42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29275" y="1337072"/>
            <a:ext cx="6115050" cy="382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57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ent-title">
            <a:extLst>
              <a:ext uri="{FF2B5EF4-FFF2-40B4-BE49-F238E27FC236}">
                <a16:creationId xmlns:a16="http://schemas.microsoft.com/office/drawing/2014/main" id="{6E89D4EE-9806-4523-AE23-4BE621C4C85E}"/>
              </a:ext>
            </a:extLst>
          </p:cNvPr>
          <p:cNvSpPr>
            <a:spLocks noGrp="1"/>
          </p:cNvSpPr>
          <p:nvPr/>
        </p:nvSpPr>
        <p:spPr>
          <a:xfrm>
            <a:off x="1168747" y="828675"/>
            <a:ext cx="107632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5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45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 dirty="0" err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让个人</a:t>
            </a:r>
            <a:r>
              <a:rPr sz="4500" b="1" dirty="0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4500" b="1" dirty="0" err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Agent，接上你的生活</a:t>
            </a:r>
            <a:endParaRPr sz="4500" b="1" dirty="0">
              <a:solidFill>
                <a:srgbClr val="15151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mindbox-side">
            <a:extLst>
              <a:ext uri="{FF2B5EF4-FFF2-40B4-BE49-F238E27FC236}">
                <a16:creationId xmlns:a16="http://schemas.microsoft.com/office/drawing/2014/main" id="{0261E5CC-4D26-4FD9-AD11-001C95CB32D2}"/>
              </a:ext>
            </a:extLst>
          </p:cNvPr>
          <p:cNvSpPr>
            <a:spLocks noGrp="1"/>
          </p:cNvSpPr>
          <p:nvPr/>
        </p:nvSpPr>
        <p:spPr>
          <a:xfrm>
            <a:off x="1266825" y="2657730"/>
            <a:ext cx="428625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5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dirty="0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Mind Box</a:t>
            </a:r>
          </a:p>
        </p:txBody>
      </p:sp>
      <p:sp>
        <p:nvSpPr>
          <p:cNvPr id="3" name="connection-symbol">
            <a:extLst>
              <a:ext uri="{FF2B5EF4-FFF2-40B4-BE49-F238E27FC236}">
                <a16:creationId xmlns:a16="http://schemas.microsoft.com/office/drawing/2014/main" id="{897E9B79-3A77-4344-A33D-DFE84E1728FD}"/>
              </a:ext>
            </a:extLst>
          </p:cNvPr>
          <p:cNvSpPr>
            <a:spLocks noGrp="1"/>
          </p:cNvSpPr>
          <p:nvPr/>
        </p:nvSpPr>
        <p:spPr>
          <a:xfrm>
            <a:off x="5405307" y="2762505"/>
            <a:ext cx="8572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500" b="0">
                <a:solidFill>
                  <a:srgbClr val="A1A1A1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4500" b="0">
                <a:solidFill>
                  <a:srgbClr val="A1A1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0" dirty="0">
                <a:solidFill>
                  <a:srgbClr val="A1A1A1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4" name="agent-side">
            <a:extLst>
              <a:ext uri="{FF2B5EF4-FFF2-40B4-BE49-F238E27FC236}">
                <a16:creationId xmlns:a16="http://schemas.microsoft.com/office/drawing/2014/main" id="{621B1EC5-A6DC-455C-A9B4-1101C01C54E2}"/>
              </a:ext>
            </a:extLst>
          </p:cNvPr>
          <p:cNvSpPr>
            <a:spLocks noGrp="1"/>
          </p:cNvSpPr>
          <p:nvPr/>
        </p:nvSpPr>
        <p:spPr>
          <a:xfrm>
            <a:off x="7152756" y="276250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2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42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en-CN" sz="5700" dirty="0">
                <a:solidFill>
                  <a:srgbClr val="15151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Muse</a:t>
            </a:r>
            <a:endParaRPr sz="5700" dirty="0">
              <a:solidFill>
                <a:srgbClr val="151515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mindbox-facts">
            <a:extLst>
              <a:ext uri="{FF2B5EF4-FFF2-40B4-BE49-F238E27FC236}">
                <a16:creationId xmlns:a16="http://schemas.microsoft.com/office/drawing/2014/main" id="{772A90E8-125F-43B3-A0D3-D031C84E6776}"/>
              </a:ext>
            </a:extLst>
          </p:cNvPr>
          <p:cNvSpPr>
            <a:spLocks noGrp="1"/>
          </p:cNvSpPr>
          <p:nvPr/>
        </p:nvSpPr>
        <p:spPr>
          <a:xfrm>
            <a:off x="1314450" y="3886455"/>
            <a:ext cx="43815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物品、位置、取放记录</a:t>
            </a:r>
          </a:p>
        </p:txBody>
      </p:sp>
      <p:sp>
        <p:nvSpPr>
          <p:cNvPr id="6" name="agent-role">
            <a:extLst>
              <a:ext uri="{FF2B5EF4-FFF2-40B4-BE49-F238E27FC236}">
                <a16:creationId xmlns:a16="http://schemas.microsoft.com/office/drawing/2014/main" id="{E0573E14-DB22-438E-B88A-7E3AE43A7F16}"/>
              </a:ext>
            </a:extLst>
          </p:cNvPr>
          <p:cNvSpPr>
            <a:spLocks noGrp="1"/>
          </p:cNvSpPr>
          <p:nvPr/>
        </p:nvSpPr>
        <p:spPr>
          <a:xfrm>
            <a:off x="7219431" y="3886455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dirty="0" err="1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你的</a:t>
            </a:r>
            <a:r>
              <a:rPr lang="en-CN" sz="2025" b="0" dirty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任意个人agent</a:t>
            </a:r>
            <a:endParaRPr sz="2025" b="0" dirty="0">
              <a:solidFill>
                <a:srgbClr val="74747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authenticated-api">
            <a:extLst>
              <a:ext uri="{FF2B5EF4-FFF2-40B4-BE49-F238E27FC236}">
                <a16:creationId xmlns:a16="http://schemas.microsoft.com/office/drawing/2014/main" id="{4B903C33-D42B-4E32-AD02-E4A70C02B5CE}"/>
              </a:ext>
            </a:extLst>
          </p:cNvPr>
          <p:cNvSpPr>
            <a:spLocks noGrp="1"/>
          </p:cNvSpPr>
          <p:nvPr/>
        </p:nvSpPr>
        <p:spPr>
          <a:xfrm>
            <a:off x="723900" y="5781675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en-CN" sz="2100" dirty="0">
                <a:solidFill>
                  <a:srgbClr val="747474"/>
                </a:solidFill>
                <a:latin typeface="Hiragino Sans GB"/>
                <a:ea typeface="Hiragino Sans GB"/>
              </a:rPr>
              <a:t>使用</a:t>
            </a:r>
            <a:r>
              <a:rPr sz="2100" dirty="0">
                <a:solidFill>
                  <a:srgbClr val="747474"/>
                </a:solidFill>
                <a:latin typeface="Hiragino Sans GB"/>
                <a:ea typeface="Hiragino Sans GB"/>
              </a:rPr>
              <a:t>API </a:t>
            </a:r>
            <a:r>
              <a:rPr sz="2100" dirty="0" err="1">
                <a:solidFill>
                  <a:srgbClr val="747474"/>
                </a:solidFill>
                <a:latin typeface="Hiragino Sans GB"/>
                <a:ea typeface="Hiragino Sans GB"/>
              </a:rPr>
              <a:t>接入</a:t>
            </a:r>
            <a:r>
              <a:rPr lang="en-US" altLang="zh-CN" sz="2100" dirty="0">
                <a:solidFill>
                  <a:srgbClr val="747474"/>
                </a:solidFill>
                <a:latin typeface="Hiragino Sans GB"/>
                <a:ea typeface="Hiragino Sans GB"/>
              </a:rPr>
              <a:t>·</a:t>
            </a:r>
            <a:r>
              <a:rPr lang="zh-CN" altLang="en-US" sz="2100" dirty="0">
                <a:solidFill>
                  <a:srgbClr val="747474"/>
                </a:solidFill>
                <a:latin typeface="Hiragino Sans GB"/>
                <a:ea typeface="Hiragino Sans GB"/>
              </a:rPr>
              <a:t>遵循</a:t>
            </a:r>
            <a:r>
              <a:rPr lang="en-US" altLang="zh-CN" sz="2100" dirty="0" err="1">
                <a:solidFill>
                  <a:srgbClr val="747474"/>
                </a:solidFill>
                <a:latin typeface="Hiragino Sans GB"/>
                <a:ea typeface="Hiragino Sans GB"/>
              </a:rPr>
              <a:t>Openai</a:t>
            </a:r>
            <a:r>
              <a:rPr lang="zh-CN" altLang="en-US" sz="2100" dirty="0">
                <a:solidFill>
                  <a:srgbClr val="747474"/>
                </a:solidFill>
                <a:latin typeface="Hiragino Sans GB"/>
                <a:ea typeface="Hiragino Sans GB"/>
              </a:rPr>
              <a:t>协议</a:t>
            </a:r>
            <a:endParaRPr sz="2100" dirty="0">
              <a:solidFill>
                <a:srgbClr val="747474"/>
              </a:solidFill>
              <a:latin typeface="Hiragino Sans GB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064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ny-items">
            <a:extLst>
              <a:ext uri="{FF2B5EF4-FFF2-40B4-BE49-F238E27FC236}">
                <a16:creationId xmlns:a16="http://schemas.microsoft.com/office/drawing/2014/main" id="{5C52B142-66F8-45CA-8790-7604F5D358F6}"/>
              </a:ext>
            </a:extLst>
          </p:cNvPr>
          <p:cNvSpPr>
            <a:spLocks noGrp="1"/>
          </p:cNvSpPr>
          <p:nvPr/>
        </p:nvSpPr>
        <p:spPr>
          <a:xfrm>
            <a:off x="1095375" y="2047875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6600" b="1">
                <a:solidFill>
                  <a:srgbClr val="9A9A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6600" b="1">
                <a:solidFill>
                  <a:srgbClr val="9A9A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600" b="1">
                <a:solidFill>
                  <a:srgbClr val="9A9A9A"/>
                </a:solidFill>
                <a:latin typeface="Hiragino Sans GB"/>
                <a:ea typeface="Hiragino Sans GB"/>
                <a:cs typeface="Hiragino Sans GB"/>
              </a:rPr>
              <a:t>物品越来越多</a:t>
            </a:r>
          </a:p>
        </p:txBody>
      </p:sp>
      <p:sp>
        <p:nvSpPr>
          <p:cNvPr id="2" name="limited-attention">
            <a:extLst>
              <a:ext uri="{FF2B5EF4-FFF2-40B4-BE49-F238E27FC236}">
                <a16:creationId xmlns:a16="http://schemas.microsoft.com/office/drawing/2014/main" id="{1AC51C2B-344B-41AF-BC53-B2B5B828632B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6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6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注意力只有这么多</a:t>
            </a:r>
          </a:p>
        </p:txBody>
      </p:sp>
    </p:spTree>
    <p:extLst>
      <p:ext uri="{BB962C8B-B14F-4D97-AF65-F5344CB8AC3E}">
        <p14:creationId xmlns:p14="http://schemas.microsoft.com/office/powerpoint/2010/main" val="126488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rganized-label">
            <a:extLst>
              <a:ext uri="{FF2B5EF4-FFF2-40B4-BE49-F238E27FC236}">
                <a16:creationId xmlns:a16="http://schemas.microsoft.com/office/drawing/2014/main" id="{27DC75F0-5550-4691-B7AA-DD98844A4E2A}"/>
              </a:ext>
            </a:extLst>
          </p:cNvPr>
          <p:cNvSpPr>
            <a:spLocks noGrp="1"/>
          </p:cNvSpPr>
          <p:nvPr/>
        </p:nvSpPr>
        <p:spPr>
          <a:xfrm>
            <a:off x="1085850" y="1047750"/>
            <a:ext cx="66675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善于收纳</a:t>
            </a:r>
          </a:p>
        </p:txBody>
      </p:sp>
      <p:sp>
        <p:nvSpPr>
          <p:cNvPr id="2" name="organized-benefit">
            <a:extLst>
              <a:ext uri="{FF2B5EF4-FFF2-40B4-BE49-F238E27FC236}">
                <a16:creationId xmlns:a16="http://schemas.microsoft.com/office/drawing/2014/main" id="{9F9CE8B0-CD4B-44A3-949D-44F2AE0BD6B2}"/>
              </a:ext>
            </a:extLst>
          </p:cNvPr>
          <p:cNvSpPr>
            <a:spLocks noGrp="1"/>
          </p:cNvSpPr>
          <p:nvPr/>
        </p:nvSpPr>
        <p:spPr>
          <a:xfrm>
            <a:off x="1047750" y="1666875"/>
            <a:ext cx="762000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1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61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1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更有条理</a:t>
            </a:r>
          </a:p>
        </p:txBody>
      </p:sp>
      <p:sp>
        <p:nvSpPr>
          <p:cNvPr id="3" name="unorganized-label">
            <a:extLst>
              <a:ext uri="{FF2B5EF4-FFF2-40B4-BE49-F238E27FC236}">
                <a16:creationId xmlns:a16="http://schemas.microsoft.com/office/drawing/2014/main" id="{5CA60D22-63E1-480E-82B5-6609DBC8FB55}"/>
              </a:ext>
            </a:extLst>
          </p:cNvPr>
          <p:cNvSpPr>
            <a:spLocks noGrp="1"/>
          </p:cNvSpPr>
          <p:nvPr/>
        </p:nvSpPr>
        <p:spPr>
          <a:xfrm>
            <a:off x="1085850" y="3514725"/>
            <a:ext cx="66675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不善收纳</a:t>
            </a:r>
          </a:p>
        </p:txBody>
      </p:sp>
      <p:sp>
        <p:nvSpPr>
          <p:cNvPr id="4" name="unorganized-benefit">
            <a:extLst>
              <a:ext uri="{FF2B5EF4-FFF2-40B4-BE49-F238E27FC236}">
                <a16:creationId xmlns:a16="http://schemas.microsoft.com/office/drawing/2014/main" id="{00F94A41-C132-4FE2-A515-34D10251CB92}"/>
              </a:ext>
            </a:extLst>
          </p:cNvPr>
          <p:cNvSpPr>
            <a:spLocks noGrp="1"/>
          </p:cNvSpPr>
          <p:nvPr/>
        </p:nvSpPr>
        <p:spPr>
          <a:xfrm>
            <a:off x="1047750" y="4133850"/>
            <a:ext cx="762000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150" b="1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6150" b="1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en-CN" sz="6150" b="1" dirty="0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rPr>
              <a:t>为您打造</a:t>
            </a:r>
            <a:endParaRPr sz="6150" b="1" dirty="0">
              <a:solidFill>
                <a:srgbClr val="0071E3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435765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legate-1">
            <a:extLst>
              <a:ext uri="{FF2B5EF4-FFF2-40B4-BE49-F238E27FC236}">
                <a16:creationId xmlns:a16="http://schemas.microsoft.com/office/drawing/2014/main" id="{2E24F42B-B92F-4D9F-982C-42D680FE924A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1066800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把繁杂的</a:t>
            </a:r>
          </a:p>
        </p:txBody>
      </p:sp>
      <p:sp>
        <p:nvSpPr>
          <p:cNvPr id="2" name="delegate-2">
            <a:extLst>
              <a:ext uri="{FF2B5EF4-FFF2-40B4-BE49-F238E27FC236}">
                <a16:creationId xmlns:a16="http://schemas.microsoft.com/office/drawing/2014/main" id="{70D1CD6E-264E-4C05-B45A-388D3B364404}"/>
              </a:ext>
            </a:extLst>
          </p:cNvPr>
          <p:cNvSpPr>
            <a:spLocks noGrp="1"/>
          </p:cNvSpPr>
          <p:nvPr/>
        </p:nvSpPr>
        <p:spPr>
          <a:xfrm>
            <a:off x="762000" y="3409950"/>
            <a:ext cx="1066800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交给 AI</a:t>
            </a:r>
          </a:p>
        </p:txBody>
      </p:sp>
    </p:spTree>
    <p:extLst>
      <p:ext uri="{BB962C8B-B14F-4D97-AF65-F5344CB8AC3E}">
        <p14:creationId xmlns:p14="http://schemas.microsoft.com/office/powerpoint/2010/main" val="987376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uman-values">
            <a:extLst>
              <a:ext uri="{FF2B5EF4-FFF2-40B4-BE49-F238E27FC236}">
                <a16:creationId xmlns:a16="http://schemas.microsoft.com/office/drawing/2014/main" id="{1C33991A-DBDC-4E4B-88FA-3B065EA6BA90}"/>
              </a:ext>
            </a:extLst>
          </p:cNvPr>
          <p:cNvSpPr>
            <a:spLocks noGrp="1"/>
          </p:cNvSpPr>
          <p:nvPr/>
        </p:nvSpPr>
        <p:spPr>
          <a:xfrm>
            <a:off x="783266" y="1838991"/>
            <a:ext cx="10668000" cy="78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575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4575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把情感、创造和生活</a:t>
            </a:r>
          </a:p>
        </p:txBody>
      </p:sp>
      <p:sp>
        <p:nvSpPr>
          <p:cNvPr id="2" name="human-close">
            <a:extLst>
              <a:ext uri="{FF2B5EF4-FFF2-40B4-BE49-F238E27FC236}">
                <a16:creationId xmlns:a16="http://schemas.microsoft.com/office/drawing/2014/main" id="{802D1C44-4E17-4D2C-A51C-186D97AEDBD5}"/>
              </a:ext>
            </a:extLst>
          </p:cNvPr>
          <p:cNvSpPr>
            <a:spLocks noGrp="1"/>
          </p:cNvSpPr>
          <p:nvPr/>
        </p:nvSpPr>
        <p:spPr>
          <a:xfrm>
            <a:off x="783266" y="2677191"/>
            <a:ext cx="10668000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55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55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550" b="1" dirty="0" err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留给人类</a:t>
            </a:r>
            <a:endParaRPr sz="5550" b="1" dirty="0">
              <a:solidFill>
                <a:srgbClr val="15151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brand-close">
            <a:extLst>
              <a:ext uri="{FF2B5EF4-FFF2-40B4-BE49-F238E27FC236}">
                <a16:creationId xmlns:a16="http://schemas.microsoft.com/office/drawing/2014/main" id="{E3290846-2D55-43F9-B322-4203A68C53CC}"/>
              </a:ext>
            </a:extLst>
          </p:cNvPr>
          <p:cNvSpPr>
            <a:spLocks noGrp="1"/>
          </p:cNvSpPr>
          <p:nvPr/>
        </p:nvSpPr>
        <p:spPr>
          <a:xfrm>
            <a:off x="783266" y="3791616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4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Mind Box</a:t>
            </a:r>
          </a:p>
        </p:txBody>
      </p:sp>
    </p:spTree>
    <p:extLst>
      <p:ext uri="{BB962C8B-B14F-4D97-AF65-F5344CB8AC3E}">
        <p14:creationId xmlns:p14="http://schemas.microsoft.com/office/powerpoint/2010/main" val="21002395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Mind Box">
      <a:dk1>
        <a:srgbClr val="000000"/>
      </a:dk1>
      <a:lt1>
        <a:srgbClr val="FFFFFF"/>
      </a:lt1>
      <a:dk2>
        <a:srgbClr val="151515"/>
      </a:dk2>
      <a:lt2>
        <a:srgbClr val="F2F2F2"/>
      </a:lt2>
      <a:accent1>
        <a:srgbClr val="0071E3"/>
      </a:accent1>
      <a:accent2>
        <a:srgbClr val="467C65"/>
      </a:accent2>
      <a:accent3>
        <a:srgbClr val="B2403F"/>
      </a:accent3>
      <a:accent4>
        <a:srgbClr val="A67925"/>
      </a:accent4>
      <a:accent5>
        <a:srgbClr val="797979"/>
      </a:accent5>
      <a:accent6>
        <a:srgbClr val="3D676C"/>
      </a:accent6>
      <a:hlink>
        <a:srgbClr val="0071E3"/>
      </a:hlink>
      <a:folHlink>
        <a:srgbClr val="555555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d Bo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Mind Box">
      <a:dk1>
        <a:srgbClr val="000000"/>
      </a:dk1>
      <a:lt1>
        <a:srgbClr val="FFFFFF"/>
      </a:lt1>
      <a:dk2>
        <a:srgbClr val="151515"/>
      </a:dk2>
      <a:lt2>
        <a:srgbClr val="F2F2F2"/>
      </a:lt2>
      <a:accent1>
        <a:srgbClr val="0071E3"/>
      </a:accent1>
      <a:accent2>
        <a:srgbClr val="467C65"/>
      </a:accent2>
      <a:accent3>
        <a:srgbClr val="B2403F"/>
      </a:accent3>
      <a:accent4>
        <a:srgbClr val="A67925"/>
      </a:accent4>
      <a:accent5>
        <a:srgbClr val="797979"/>
      </a:accent5>
      <a:accent6>
        <a:srgbClr val="3D676C"/>
      </a:accent6>
      <a:hlink>
        <a:srgbClr val="0071E3"/>
      </a:hlink>
      <a:folHlink>
        <a:srgbClr val="555555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d Bo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Microsoft Macintosh PowerPoint</Application>
  <DocSecurity>0</DocSecurity>
  <PresentationFormat>Widescreen</PresentationFormat>
  <Paragraphs>84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Hiragino Sans GB</vt:lpstr>
      <vt:lpstr>Aptos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之恒 蔡</cp:lastModifiedBy>
  <cp:revision>1</cp:revision>
  <dcterms:created xsi:type="dcterms:W3CDTF">2026-10-18T07:01:17Z</dcterms:created>
  <dcterms:modified xsi:type="dcterms:W3CDTF">2026-10-18T07:13:01Z</dcterms:modified>
</cp:coreProperties>
</file>