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5" r:id="rId9"/>
    <p:sldId id="263" r:id="rId1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82893"/>
  </p:normalViewPr>
  <p:slideViewPr>
    <p:cSldViewPr snapToGrid="0">
      <p:cViewPr varScale="1">
        <p:scale>
          <a:sx n="81" d="100"/>
          <a:sy n="81" d="100"/>
        </p:scale>
        <p:origin x="35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视频与演示约</a:t>
            </a:r>
            <a:r>
              <a:rPr dirty="0"/>
              <a:t> 120 秒</a:t>
            </a:r>
          </a:p>
          <a:p>
            <a:endParaRPr dirty="0"/>
          </a:p>
          <a:p>
            <a:r>
              <a:rPr dirty="0" err="1"/>
              <a:t>这是我们的产品，Mind</a:t>
            </a:r>
            <a:r>
              <a:rPr dirty="0"/>
              <a:t> </a:t>
            </a:r>
            <a:r>
              <a:rPr dirty="0" err="1"/>
              <a:t>Box。物品放取的过程，自动记录；想找物品的时候，定位到所在抽屉。请看演示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演示：取出物品、存入物品，同时交代提醒。随后展示语音查找与提醒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来源</a:t>
            </a:r>
            <a:endParaRPr dirty="0"/>
          </a:p>
          <a:p>
            <a:r>
              <a:rPr dirty="0" err="1"/>
              <a:t>产品定义：用户提供的演讲稿</a:t>
            </a:r>
            <a:r>
              <a:rPr dirty="0"/>
              <a:t>。</a:t>
            </a:r>
          </a:p>
          <a:p>
            <a:r>
              <a:rPr dirty="0" err="1"/>
              <a:t>产品画面：项目</a:t>
            </a:r>
            <a:r>
              <a:rPr dirty="0"/>
              <a:t> </a:t>
            </a:r>
            <a:r>
              <a:rPr dirty="0" err="1"/>
              <a:t>WebUI</a:t>
            </a:r>
            <a:r>
              <a:rPr dirty="0"/>
              <a:t> </a:t>
            </a:r>
            <a:r>
              <a:rPr dirty="0" err="1"/>
              <a:t>原有</a:t>
            </a:r>
            <a:r>
              <a:rPr dirty="0"/>
              <a:t> 3D </a:t>
            </a:r>
            <a:r>
              <a:rPr dirty="0" err="1"/>
              <a:t>柜体模型截图，非实物照片</a:t>
            </a:r>
            <a:r>
              <a:rPr dirty="0"/>
              <a:t>。</a:t>
            </a:r>
          </a:p>
          <a:p>
            <a:r>
              <a:rPr dirty="0"/>
              <a:t>/Users/</a:t>
            </a:r>
            <a:r>
              <a:rPr dirty="0" err="1"/>
              <a:t>cao</a:t>
            </a:r>
            <a:r>
              <a:rPr dirty="0"/>
              <a:t>/</a:t>
            </a:r>
            <a:r>
              <a:rPr dirty="0" err="1"/>
              <a:t>MindBox</a:t>
            </a:r>
            <a:r>
              <a:rPr dirty="0"/>
              <a:t>/code/</a:t>
            </a:r>
            <a:r>
              <a:rPr dirty="0" err="1"/>
              <a:t>webui</a:t>
            </a:r>
            <a:r>
              <a:rPr dirty="0"/>
              <a:t>/cabinet.js</a:t>
            </a:r>
          </a:p>
          <a:p>
            <a:r>
              <a:rPr dirty="0" err="1"/>
              <a:t>视觉参考：https</a:t>
            </a:r>
            <a:r>
              <a:rPr dirty="0"/>
              <a:t>://www.apple.com/apple-events/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00:00–00:12，约 12 秒</a:t>
            </a:r>
          </a:p>
          <a:p>
            <a:endParaRPr/>
          </a:p>
          <a:p>
            <a:r>
              <a:t>刚才大家看到的，就是 Mind Box。物品放入、取出，系统自动留下记录。需要的时候，可以问它物品在哪里，也可以直接交代一条提醒。</a:t>
            </a:r>
          </a:p>
          <a:p>
            <a:endParaRPr/>
          </a:p>
          <a:p>
            <a:r>
              <a:t>来源</a:t>
            </a:r>
          </a:p>
          <a:p>
            <a:r>
              <a:t>[local path hidden]</a:t>
            </a:r>
          </a:p>
          <a:p>
            <a:r>
              <a:t>[local path hidden]</a:t>
            </a:r>
          </a:p>
          <a:p>
            <a:r>
              <a:t>[local path hidden]</a:t>
            </a:r>
          </a:p>
          <a:p>
            <a:r>
              <a:t>[local path hidden]</a:t>
            </a:r>
          </a:p>
          <a:p>
            <a:r>
              <a:t>截图为本地实际 WebUI，保留当时页面状态。代码已包含这些功能；文档仍将实柜音画联合验收列为待完成事项。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00:34–00:50，约 16 秒</a:t>
            </a:r>
          </a:p>
          <a:p>
            <a:endParaRPr/>
          </a:p>
          <a:p>
            <a:r>
              <a:t>所以，我们也完成了带认证的 API。个人 Agent 获得授权后，就能读取物品、位置和取放记录。未来，像 Muse 这样的个人 Agent，也可以接进来，成为了解我们生活的管家。</a:t>
            </a:r>
          </a:p>
          <a:p>
            <a:endParaRPr/>
          </a:p>
          <a:p>
            <a:r>
              <a:t>来源</a:t>
            </a:r>
          </a:p>
          <a:p>
            <a:r>
              <a:t>[local path hidden]</a:t>
            </a:r>
          </a:p>
          <a:p>
            <a:r>
              <a:t>[local path hidden]</a:t>
            </a:r>
          </a:p>
          <a:p>
            <a:r>
              <a:t>[local path hidden]</a:t>
            </a:r>
          </a:p>
          <a:p>
            <a:r>
              <a:t>[local path hidden]</a:t>
            </a:r>
          </a:p>
          <a:p>
            <a:r>
              <a:t>现有实现为本机带认证的只读查询接口。Muse 是未来接入举例，项目材料未证明已完成 Muse 客户端验收。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00:50–01:04，约 14 秒</a:t>
            </a:r>
          </a:p>
          <a:p>
            <a:endParaRPr/>
          </a:p>
          <a:p>
            <a:r>
              <a:t>Mind Box 想解决的，是一个很日常的矛盾：人的注意力有限，要管理的物品却越来越多。我们总会把注意力放在重要的事情上，而收纳，也不该持续占用这份宝贵的注意力。</a:t>
            </a:r>
          </a:p>
          <a:p>
            <a:endParaRPr/>
          </a:p>
          <a:p>
            <a:r>
              <a:t>来源</a:t>
            </a:r>
          </a:p>
          <a:p>
            <a:r>
              <a:t>价值主张：用户提供的演讲稿。不作为量化研究或统计结论。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01:04–01:17，约 13 秒</a:t>
            </a:r>
          </a:p>
          <a:p>
            <a:endParaRPr/>
          </a:p>
          <a:p>
            <a:r>
              <a:t>如果你善于收纳，Mind Box 帮你更有条理，把精力留给重要的事。如果你不善收纳，那更欢迎你，因为它就是为我们这样的人打造的。</a:t>
            </a:r>
          </a:p>
          <a:p>
            <a:endParaRPr/>
          </a:p>
          <a:p>
            <a:r>
              <a:t>来源</a:t>
            </a:r>
          </a:p>
          <a:p>
            <a:r>
              <a:t>用户定位：用户提供的演讲稿。</a:t>
            </a:r>
          </a:p>
          <a:p>
            <a:r>
              <a:t>项目柜体参考实拍：[local path hidden]</a:t>
            </a:r>
          </a:p>
          <a:p>
            <a:r>
              <a:t>原图来源说明：[local path hidden]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01:17–01:22，约 5 秒</a:t>
            </a:r>
          </a:p>
          <a:p>
            <a:endParaRPr/>
          </a:p>
          <a:p>
            <a:r>
              <a:t>让我们把繁杂的，交给 AI。</a:t>
            </a:r>
          </a:p>
          <a:p>
            <a:endParaRPr/>
          </a:p>
          <a:p>
            <a:r>
              <a:t>来源</a:t>
            </a:r>
          </a:p>
          <a:p>
            <a:r>
              <a:t>用户提供的演讲稿。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C61C2-9C3F-5827-7738-DFFAE6C67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A937D-2967-BEAB-B1D5-BB50C6F75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20BFD-F5B3-DB71-28C2-742593AE5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01:22–01:30，约 8 秒</a:t>
            </a:r>
          </a:p>
          <a:p>
            <a:endParaRPr/>
          </a:p>
          <a:p>
            <a:r>
              <a:t>把情感、创造和生活，留给人类。Mind Box，谢谢大家。</a:t>
            </a:r>
          </a:p>
          <a:p>
            <a:endParaRPr/>
          </a:p>
          <a:p>
            <a:r>
              <a:t>来源</a:t>
            </a:r>
          </a:p>
          <a:p>
            <a:r>
              <a:t>用户提供的演讲稿。</a:t>
            </a:r>
          </a:p>
          <a:p>
            <a:r>
              <a:t>生活配图：Sebastian Monroy / Unsplash，Unsplash License。</a:t>
            </a:r>
          </a:p>
          <a:p>
            <a:r>
              <a:t>https://unsplash.com/photos/hands-shaping-a-clay-pot-with-pottery-tools-OloJS1Eo0B4</a:t>
            </a:r>
          </a:p>
          <a:p>
            <a:r>
              <a:t>图片表达人的创造活动，并非团队工作现场。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6F4CA-E32D-D588-2C67-E8D0D23E5CA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7125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01:22–01:30，约 8 秒</a:t>
            </a:r>
          </a:p>
          <a:p>
            <a:endParaRPr/>
          </a:p>
          <a:p>
            <a:r>
              <a:t>把情感、创造和生活，留给人类。Mind Box，谢谢大家。</a:t>
            </a:r>
          </a:p>
          <a:p>
            <a:endParaRPr/>
          </a:p>
          <a:p>
            <a:r>
              <a:t>来源</a:t>
            </a:r>
          </a:p>
          <a:p>
            <a:r>
              <a:t>用户提供的演讲稿。</a:t>
            </a:r>
          </a:p>
          <a:p>
            <a:r>
              <a:t>生活配图：Sebastian Monroy / Unsplash，Unsplash License。</a:t>
            </a:r>
          </a:p>
          <a:p>
            <a:r>
              <a:t>https://unsplash.com/photos/hands-shaping-a-clay-pot-with-pottery-tools-OloJS1Eo0B4</a:t>
            </a:r>
          </a:p>
          <a:p>
            <a:r>
              <a:t>图片表达人的创造活动，并非团队工作现场。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BC09AA3-5EE2-47D7-BA62-B8273D5D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9718C4E-05B5-4C81-813E-59F738503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50C0D20-8A5D-469B-A03D-D4402E53F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FD86313-EC1D-44B2-9B71-10FD385D1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FF57B02-99C5-4877-80B4-C92696EBF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F0DBA24-BB6F-47D4-AC14-390DE528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23A6C96-294C-4A62-966C-C6D9AB138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D83C72D-426A-4BEC-824D-EAD1448D0F6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1B3E82C-B39A-4344-AAD1-756AC62E2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92EA750-B518-4A3F-842F-9F7F2E829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13B107-AB81-49A5-AA49-536800238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5000" l="5826" r="96957">
                        <a14:foregroundMark x1="47565" y1="16176" x2="28000" y2="11765"/>
                        <a14:foregroundMark x1="28000" y1="11765" x2="46000" y2="5098"/>
                        <a14:foregroundMark x1="46000" y1="5098" x2="51478" y2="13627"/>
                        <a14:foregroundMark x1="51478" y1="13627" x2="18435" y2="45588"/>
                        <a14:foregroundMark x1="18435" y1="45588" x2="25565" y2="73039"/>
                        <a14:foregroundMark x1="25565" y1="73039" x2="40783" y2="59314"/>
                        <a14:foregroundMark x1="40783" y1="59314" x2="26174" y2="80490"/>
                        <a14:foregroundMark x1="26174" y1="80490" x2="39478" y2="90392"/>
                        <a14:foregroundMark x1="39478" y1="90392" x2="52000" y2="89216"/>
                        <a14:foregroundMark x1="52000" y1="89216" x2="57826" y2="80882"/>
                        <a14:foregroundMark x1="57826" y1="80882" x2="71391" y2="79608"/>
                        <a14:foregroundMark x1="71391" y1="79608" x2="80609" y2="80784"/>
                        <a14:foregroundMark x1="80609" y1="80784" x2="60174" y2="78824"/>
                        <a14:foregroundMark x1="60174" y1="78824" x2="79304" y2="83627"/>
                        <a14:foregroundMark x1="79304" y1="83627" x2="14000" y2="83137"/>
                        <a14:foregroundMark x1="14000" y1="83137" x2="16087" y2="80196"/>
                        <a14:foregroundMark x1="15739" y1="47157" x2="13130" y2="34216"/>
                        <a14:foregroundMark x1="10957" y1="18824" x2="32609" y2="11078"/>
                        <a14:foregroundMark x1="32609" y1="11078" x2="40087" y2="5490"/>
                        <a14:foregroundMark x1="40087" y1="5490" x2="23304" y2="6471"/>
                        <a14:foregroundMark x1="23304" y1="6471" x2="16957" y2="15294"/>
                        <a14:foregroundMark x1="16957" y1="15294" x2="44696" y2="23137"/>
                        <a14:foregroundMark x1="44696" y1="23137" x2="59652" y2="14314"/>
                        <a14:foregroundMark x1="59652" y1="14314" x2="40261" y2="6373"/>
                        <a14:foregroundMark x1="40261" y1="6373" x2="30174" y2="7255"/>
                        <a14:foregroundMark x1="59478" y1="4804" x2="21826" y2="2745"/>
                        <a14:foregroundMark x1="21826" y1="2745" x2="33739" y2="14804"/>
                        <a14:foregroundMark x1="33739" y1="14804" x2="68435" y2="17451"/>
                        <a14:foregroundMark x1="68435" y1="17451" x2="66870" y2="6176"/>
                        <a14:foregroundMark x1="66870" y1="6176" x2="34435" y2="196"/>
                        <a14:foregroundMark x1="24522" y1="12059" x2="8609" y2="15490"/>
                        <a14:foregroundMark x1="8609" y1="15490" x2="9217" y2="76863"/>
                        <a14:foregroundMark x1="9217" y1="76863" x2="11391" y2="87255"/>
                        <a14:foregroundMark x1="11391" y1="87255" x2="59913" y2="94118"/>
                        <a14:foregroundMark x1="59913" y1="94118" x2="28696" y2="90980"/>
                        <a14:foregroundMark x1="28696" y1="90980" x2="59217" y2="95588"/>
                        <a14:foregroundMark x1="59217" y1="95588" x2="78957" y2="93725"/>
                        <a14:foregroundMark x1="78957" y1="93725" x2="90609" y2="86373"/>
                        <a14:foregroundMark x1="90609" y1="86373" x2="97130" y2="76961"/>
                        <a14:foregroundMark x1="97130" y1="76961" x2="77391" y2="65882"/>
                        <a14:foregroundMark x1="77391" y1="65882" x2="65913" y2="63725"/>
                        <a14:foregroundMark x1="65913" y1="63725" x2="63043" y2="12451"/>
                        <a14:foregroundMark x1="74261" y1="90784" x2="47391" y2="90882"/>
                        <a14:foregroundMark x1="47391" y1="90882" x2="35652" y2="96667"/>
                        <a14:foregroundMark x1="35652" y1="96667" x2="47652" y2="98824"/>
                        <a14:foregroundMark x1="47652" y1="98824" x2="56870" y2="95098"/>
                        <a14:foregroundMark x1="56870" y1="95098" x2="55043" y2="87549"/>
                        <a14:foregroundMark x1="14348" y1="77843" x2="8870" y2="86078"/>
                        <a14:foregroundMark x1="8870" y1="86078" x2="16522" y2="83039"/>
                        <a14:foregroundMark x1="22174" y1="15196" x2="6435" y2="13627"/>
                        <a14:foregroundMark x1="6435" y1="13627" x2="14174" y2="20196"/>
                        <a14:foregroundMark x1="14174" y1="20196" x2="18087" y2="14020"/>
                        <a14:foregroundMark x1="23565" y1="10980" x2="12087" y2="15490"/>
                        <a14:foregroundMark x1="12087" y1="15490" x2="20609" y2="19020"/>
                        <a14:foregroundMark x1="20609" y1="19020" x2="21478" y2="13922"/>
                        <a14:foregroundMark x1="23826" y1="15882" x2="12522" y2="15294"/>
                        <a14:foregroundMark x1="12522" y1="15294" x2="22696" y2="21176"/>
                        <a14:foregroundMark x1="22696" y1="21176" x2="26957" y2="17255"/>
                        <a14:foregroundMark x1="40087" y1="13922" x2="23739" y2="8039"/>
                        <a14:foregroundMark x1="23739" y1="8039" x2="7391" y2="13824"/>
                        <a14:foregroundMark x1="7391" y1="13824" x2="21913" y2="25196"/>
                        <a14:foregroundMark x1="21913" y1="25196" x2="22000" y2="14314"/>
                        <a14:foregroundMark x1="22000" y1="14314" x2="20522" y2="13333"/>
                        <a14:foregroundMark x1="10348" y1="15882" x2="5826" y2="30490"/>
                        <a14:foregroundMark x1="5826" y1="30490" x2="10174" y2="41275"/>
                        <a14:foregroundMark x1="10174" y1="41275" x2="10174" y2="41275"/>
                        <a14:foregroundMark x1="23391" y1="67843" x2="10609" y2="79020"/>
                        <a14:foregroundMark x1="10609" y1="79020" x2="16261" y2="82451"/>
                        <a14:foregroundMark x1="11739" y1="76667" x2="12870" y2="78922"/>
                        <a14:foregroundMark x1="16087" y1="77255" x2="8870" y2="84216"/>
                        <a14:foregroundMark x1="8870" y1="84216" x2="16174" y2="82157"/>
                      </a14:backgroundRemoval>
                    </a14:imgEffect>
                  </a14:imgLayer>
                </a14:imgProps>
              </a:ext>
            </a:extLst>
          </a:blip>
          <a:stretch/>
        </p:blipFill>
        <p:spPr>
          <a:xfrm>
            <a:off x="5467350" y="706838"/>
            <a:ext cx="6438900" cy="5711024"/>
          </a:xfrm>
          <a:prstGeom prst="rect">
            <a:avLst/>
          </a:prstGeom>
        </p:spPr>
      </p:pic>
      <p:sp>
        <p:nvSpPr>
          <p:cNvPr id="2" name="brand">
            <a:extLst>
              <a:ext uri="{FF2B5EF4-FFF2-40B4-BE49-F238E27FC236}">
                <a16:creationId xmlns:a16="http://schemas.microsoft.com/office/drawing/2014/main" id="{9300F10B-AB7F-4D7B-9912-1959DF796B36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57150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7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Mind Box</a:t>
            </a:r>
          </a:p>
        </p:txBody>
      </p:sp>
      <p:sp>
        <p:nvSpPr>
          <p:cNvPr id="3" name="category">
            <a:extLst>
              <a:ext uri="{FF2B5EF4-FFF2-40B4-BE49-F238E27FC236}">
                <a16:creationId xmlns:a16="http://schemas.microsoft.com/office/drawing/2014/main" id="{16E52630-AE9E-43BD-94F2-A18A2EA0B4A3}"/>
              </a:ext>
            </a:extLst>
          </p:cNvPr>
          <p:cNvSpPr>
            <a:spLocks noGrp="1"/>
          </p:cNvSpPr>
          <p:nvPr/>
        </p:nvSpPr>
        <p:spPr>
          <a:xfrm>
            <a:off x="838200" y="3514725"/>
            <a:ext cx="45720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0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550" b="0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 dirty="0" err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物品无感智能收纳</a:t>
            </a:r>
            <a:endParaRPr sz="2550" b="0" dirty="0">
              <a:solidFill>
                <a:srgbClr val="151515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900748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88BA5E-170D-A3BA-52C6-0D92BA365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03112" y="2377194"/>
            <a:ext cx="2106070" cy="1867992"/>
          </a:xfrm>
          <a:prstGeom prst="rect">
            <a:avLst/>
          </a:prstGeom>
        </p:spPr>
      </p:pic>
      <p:sp>
        <p:nvSpPr>
          <p:cNvPr id="6" name="remember">
            <a:extLst>
              <a:ext uri="{FF2B5EF4-FFF2-40B4-BE49-F238E27FC236}">
                <a16:creationId xmlns:a16="http://schemas.microsoft.com/office/drawing/2014/main" id="{6112D0DC-10ED-4FFB-B987-891E8518FD86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47625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取放，全程记得</a:t>
            </a:r>
          </a:p>
        </p:txBody>
      </p:sp>
      <p:sp>
        <p:nvSpPr>
          <p:cNvPr id="2" name="find">
            <a:extLst>
              <a:ext uri="{FF2B5EF4-FFF2-40B4-BE49-F238E27FC236}">
                <a16:creationId xmlns:a16="http://schemas.microsoft.com/office/drawing/2014/main" id="{4A402E2F-42A4-4B01-9385-2927B76AA1A2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47625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想找，一问就知道</a:t>
            </a:r>
          </a:p>
        </p:txBody>
      </p:sp>
      <p:sp>
        <p:nvSpPr>
          <p:cNvPr id="3" name="feature-summary">
            <a:extLst>
              <a:ext uri="{FF2B5EF4-FFF2-40B4-BE49-F238E27FC236}">
                <a16:creationId xmlns:a16="http://schemas.microsoft.com/office/drawing/2014/main" id="{1B6EF779-E5DB-4BBF-8836-7DCBA2CF1A75}"/>
              </a:ext>
            </a:extLst>
          </p:cNvPr>
          <p:cNvSpPr>
            <a:spLocks noGrp="1"/>
          </p:cNvSpPr>
          <p:nvPr/>
        </p:nvSpPr>
        <p:spPr>
          <a:xfrm>
            <a:off x="781050" y="4124325"/>
            <a:ext cx="40005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dirty="0" err="1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自动记录取放</a:t>
            </a:r>
            <a:endParaRPr sz="2100" b="0" dirty="0">
              <a:solidFill>
                <a:srgbClr val="74747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voice-reminders">
            <a:extLst>
              <a:ext uri="{FF2B5EF4-FFF2-40B4-BE49-F238E27FC236}">
                <a16:creationId xmlns:a16="http://schemas.microsoft.com/office/drawing/2014/main" id="{FDA79205-8DCB-4534-80C6-4C97FAFAFB68}"/>
              </a:ext>
            </a:extLst>
          </p:cNvPr>
          <p:cNvSpPr>
            <a:spLocks noGrp="1"/>
          </p:cNvSpPr>
          <p:nvPr/>
        </p:nvSpPr>
        <p:spPr>
          <a:xfrm>
            <a:off x="781050" y="4572000"/>
            <a:ext cx="40005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语音查找与定时提醒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8C0507-BE41-4341-8040-B9BD4FA42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629275" y="1337072"/>
            <a:ext cx="6115050" cy="382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57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Q20261018-140454">
            <a:hlinkClick r:id="" action="ppaction://media"/>
            <a:extLst>
              <a:ext uri="{FF2B5EF4-FFF2-40B4-BE49-F238E27FC236}">
                <a16:creationId xmlns:a16="http://schemas.microsoft.com/office/drawing/2014/main" id="{37DD600F-1A23-54DE-63C8-9D802AAE10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0538" y="249644"/>
            <a:ext cx="10190923" cy="635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04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82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ent-title">
            <a:extLst>
              <a:ext uri="{FF2B5EF4-FFF2-40B4-BE49-F238E27FC236}">
                <a16:creationId xmlns:a16="http://schemas.microsoft.com/office/drawing/2014/main" id="{6E89D4EE-9806-4523-AE23-4BE621C4C85E}"/>
              </a:ext>
            </a:extLst>
          </p:cNvPr>
          <p:cNvSpPr>
            <a:spLocks noGrp="1"/>
          </p:cNvSpPr>
          <p:nvPr/>
        </p:nvSpPr>
        <p:spPr>
          <a:xfrm>
            <a:off x="1168747" y="828675"/>
            <a:ext cx="107632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5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45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 dirty="0" err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让个人</a:t>
            </a:r>
            <a:r>
              <a:rPr sz="4500" b="1" dirty="0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4500" b="1" dirty="0" err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Agent，接上你的生活</a:t>
            </a:r>
            <a:endParaRPr sz="4500" b="1" dirty="0">
              <a:solidFill>
                <a:srgbClr val="15151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mindbox-side">
            <a:extLst>
              <a:ext uri="{FF2B5EF4-FFF2-40B4-BE49-F238E27FC236}">
                <a16:creationId xmlns:a16="http://schemas.microsoft.com/office/drawing/2014/main" id="{0261E5CC-4D26-4FD9-AD11-001C95CB32D2}"/>
              </a:ext>
            </a:extLst>
          </p:cNvPr>
          <p:cNvSpPr>
            <a:spLocks noGrp="1"/>
          </p:cNvSpPr>
          <p:nvPr/>
        </p:nvSpPr>
        <p:spPr>
          <a:xfrm>
            <a:off x="1266825" y="2657730"/>
            <a:ext cx="428625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5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dirty="0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Mind Box</a:t>
            </a:r>
          </a:p>
        </p:txBody>
      </p:sp>
      <p:sp>
        <p:nvSpPr>
          <p:cNvPr id="3" name="connection-symbol">
            <a:extLst>
              <a:ext uri="{FF2B5EF4-FFF2-40B4-BE49-F238E27FC236}">
                <a16:creationId xmlns:a16="http://schemas.microsoft.com/office/drawing/2014/main" id="{897E9B79-3A77-4344-A33D-DFE84E1728FD}"/>
              </a:ext>
            </a:extLst>
          </p:cNvPr>
          <p:cNvSpPr>
            <a:spLocks noGrp="1"/>
          </p:cNvSpPr>
          <p:nvPr/>
        </p:nvSpPr>
        <p:spPr>
          <a:xfrm>
            <a:off x="5405307" y="2762505"/>
            <a:ext cx="8572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500" b="0">
                <a:solidFill>
                  <a:srgbClr val="A1A1A1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4500" b="0">
                <a:solidFill>
                  <a:srgbClr val="A1A1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0" dirty="0">
                <a:solidFill>
                  <a:srgbClr val="A1A1A1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4" name="agent-side">
            <a:extLst>
              <a:ext uri="{FF2B5EF4-FFF2-40B4-BE49-F238E27FC236}">
                <a16:creationId xmlns:a16="http://schemas.microsoft.com/office/drawing/2014/main" id="{621B1EC5-A6DC-455C-A9B4-1101C01C54E2}"/>
              </a:ext>
            </a:extLst>
          </p:cNvPr>
          <p:cNvSpPr>
            <a:spLocks noGrp="1"/>
          </p:cNvSpPr>
          <p:nvPr/>
        </p:nvSpPr>
        <p:spPr>
          <a:xfrm>
            <a:off x="7152756" y="276250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2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42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en-CN" sz="5700" dirty="0">
                <a:solidFill>
                  <a:srgbClr val="15151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Muse</a:t>
            </a:r>
            <a:endParaRPr sz="5700" dirty="0">
              <a:solidFill>
                <a:srgbClr val="151515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mindbox-facts">
            <a:extLst>
              <a:ext uri="{FF2B5EF4-FFF2-40B4-BE49-F238E27FC236}">
                <a16:creationId xmlns:a16="http://schemas.microsoft.com/office/drawing/2014/main" id="{772A90E8-125F-43B3-A0D3-D031C84E6776}"/>
              </a:ext>
            </a:extLst>
          </p:cNvPr>
          <p:cNvSpPr>
            <a:spLocks noGrp="1"/>
          </p:cNvSpPr>
          <p:nvPr/>
        </p:nvSpPr>
        <p:spPr>
          <a:xfrm>
            <a:off x="1314450" y="3886455"/>
            <a:ext cx="43815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物品、位置、取放记录</a:t>
            </a:r>
          </a:p>
        </p:txBody>
      </p:sp>
      <p:sp>
        <p:nvSpPr>
          <p:cNvPr id="6" name="agent-role">
            <a:extLst>
              <a:ext uri="{FF2B5EF4-FFF2-40B4-BE49-F238E27FC236}">
                <a16:creationId xmlns:a16="http://schemas.microsoft.com/office/drawing/2014/main" id="{E0573E14-DB22-438E-B88A-7E3AE43A7F16}"/>
              </a:ext>
            </a:extLst>
          </p:cNvPr>
          <p:cNvSpPr>
            <a:spLocks noGrp="1"/>
          </p:cNvSpPr>
          <p:nvPr/>
        </p:nvSpPr>
        <p:spPr>
          <a:xfrm>
            <a:off x="7219431" y="3886455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dirty="0" err="1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你的</a:t>
            </a:r>
            <a:r>
              <a:rPr lang="en-CN" sz="2025" b="0" dirty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任意个人agent</a:t>
            </a:r>
            <a:endParaRPr sz="2025" b="0" dirty="0">
              <a:solidFill>
                <a:srgbClr val="74747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authenticated-api">
            <a:extLst>
              <a:ext uri="{FF2B5EF4-FFF2-40B4-BE49-F238E27FC236}">
                <a16:creationId xmlns:a16="http://schemas.microsoft.com/office/drawing/2014/main" id="{4B903C33-D42B-4E32-AD02-E4A70C02B5CE}"/>
              </a:ext>
            </a:extLst>
          </p:cNvPr>
          <p:cNvSpPr>
            <a:spLocks noGrp="1"/>
          </p:cNvSpPr>
          <p:nvPr/>
        </p:nvSpPr>
        <p:spPr>
          <a:xfrm>
            <a:off x="723900" y="5781675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en-CN" sz="2100" dirty="0">
                <a:solidFill>
                  <a:srgbClr val="747474"/>
                </a:solidFill>
                <a:latin typeface="Hiragino Sans GB"/>
                <a:ea typeface="Hiragino Sans GB"/>
              </a:rPr>
              <a:t>使用</a:t>
            </a:r>
            <a:r>
              <a:rPr sz="2100" dirty="0">
                <a:solidFill>
                  <a:srgbClr val="747474"/>
                </a:solidFill>
                <a:latin typeface="Hiragino Sans GB"/>
                <a:ea typeface="Hiragino Sans GB"/>
              </a:rPr>
              <a:t>API </a:t>
            </a:r>
            <a:r>
              <a:rPr sz="2100" dirty="0" err="1">
                <a:solidFill>
                  <a:srgbClr val="747474"/>
                </a:solidFill>
                <a:latin typeface="Hiragino Sans GB"/>
                <a:ea typeface="Hiragino Sans GB"/>
              </a:rPr>
              <a:t>接入</a:t>
            </a:r>
            <a:r>
              <a:rPr lang="en-US" altLang="zh-CN" sz="2100" dirty="0">
                <a:solidFill>
                  <a:srgbClr val="747474"/>
                </a:solidFill>
                <a:latin typeface="Hiragino Sans GB"/>
                <a:ea typeface="Hiragino Sans GB"/>
              </a:rPr>
              <a:t>·</a:t>
            </a:r>
            <a:r>
              <a:rPr lang="zh-CN" altLang="en-US" sz="2100" dirty="0">
                <a:solidFill>
                  <a:srgbClr val="747474"/>
                </a:solidFill>
                <a:latin typeface="Hiragino Sans GB"/>
                <a:ea typeface="Hiragino Sans GB"/>
              </a:rPr>
              <a:t>遵循</a:t>
            </a:r>
            <a:r>
              <a:rPr lang="en-US" altLang="zh-CN" sz="2100" dirty="0" err="1">
                <a:solidFill>
                  <a:srgbClr val="747474"/>
                </a:solidFill>
                <a:latin typeface="Hiragino Sans GB"/>
                <a:ea typeface="Hiragino Sans GB"/>
              </a:rPr>
              <a:t>Openai</a:t>
            </a:r>
            <a:r>
              <a:rPr lang="zh-CN" altLang="en-US" sz="2100" dirty="0">
                <a:solidFill>
                  <a:srgbClr val="747474"/>
                </a:solidFill>
                <a:latin typeface="Hiragino Sans GB"/>
                <a:ea typeface="Hiragino Sans GB"/>
              </a:rPr>
              <a:t>协议</a:t>
            </a:r>
            <a:endParaRPr sz="2100" dirty="0">
              <a:solidFill>
                <a:srgbClr val="747474"/>
              </a:solidFill>
              <a:latin typeface="Hiragino Sans GB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0643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ny-items">
            <a:extLst>
              <a:ext uri="{FF2B5EF4-FFF2-40B4-BE49-F238E27FC236}">
                <a16:creationId xmlns:a16="http://schemas.microsoft.com/office/drawing/2014/main" id="{5C52B142-66F8-45CA-8790-7604F5D358F6}"/>
              </a:ext>
            </a:extLst>
          </p:cNvPr>
          <p:cNvSpPr>
            <a:spLocks noGrp="1"/>
          </p:cNvSpPr>
          <p:nvPr/>
        </p:nvSpPr>
        <p:spPr>
          <a:xfrm>
            <a:off x="1095375" y="2047875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6600" b="1">
                <a:solidFill>
                  <a:srgbClr val="9A9A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6600" b="1">
                <a:solidFill>
                  <a:srgbClr val="9A9A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600" b="1" dirty="0" err="1">
                <a:solidFill>
                  <a:srgbClr val="9A9A9A"/>
                </a:solidFill>
                <a:latin typeface="Hiragino Sans GB"/>
                <a:ea typeface="Hiragino Sans GB"/>
                <a:cs typeface="Hiragino Sans GB"/>
              </a:rPr>
              <a:t>物品越来越多</a:t>
            </a:r>
            <a:endParaRPr sz="6600" b="1" dirty="0">
              <a:solidFill>
                <a:srgbClr val="9A9A9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limited-attention">
            <a:extLst>
              <a:ext uri="{FF2B5EF4-FFF2-40B4-BE49-F238E27FC236}">
                <a16:creationId xmlns:a16="http://schemas.microsoft.com/office/drawing/2014/main" id="{1AC51C2B-344B-41AF-BC53-B2B5B828632B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6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6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6600" b="1" dirty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而</a:t>
            </a:r>
            <a:r>
              <a:rPr sz="6600" b="1" dirty="0" err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注意力</a:t>
            </a:r>
            <a:r>
              <a:rPr lang="zh-CN" altLang="en-US" sz="6600" b="1" dirty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及其有限</a:t>
            </a:r>
            <a:endParaRPr sz="6600" b="1" dirty="0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264886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rganized-label">
            <a:extLst>
              <a:ext uri="{FF2B5EF4-FFF2-40B4-BE49-F238E27FC236}">
                <a16:creationId xmlns:a16="http://schemas.microsoft.com/office/drawing/2014/main" id="{27DC75F0-5550-4691-B7AA-DD98844A4E2A}"/>
              </a:ext>
            </a:extLst>
          </p:cNvPr>
          <p:cNvSpPr>
            <a:spLocks noGrp="1"/>
          </p:cNvSpPr>
          <p:nvPr/>
        </p:nvSpPr>
        <p:spPr>
          <a:xfrm>
            <a:off x="1085850" y="1047750"/>
            <a:ext cx="66675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善于收纳</a:t>
            </a:r>
          </a:p>
        </p:txBody>
      </p:sp>
      <p:sp>
        <p:nvSpPr>
          <p:cNvPr id="2" name="organized-benefit">
            <a:extLst>
              <a:ext uri="{FF2B5EF4-FFF2-40B4-BE49-F238E27FC236}">
                <a16:creationId xmlns:a16="http://schemas.microsoft.com/office/drawing/2014/main" id="{9F9CE8B0-CD4B-44A3-949D-44F2AE0BD6B2}"/>
              </a:ext>
            </a:extLst>
          </p:cNvPr>
          <p:cNvSpPr>
            <a:spLocks noGrp="1"/>
          </p:cNvSpPr>
          <p:nvPr/>
        </p:nvSpPr>
        <p:spPr>
          <a:xfrm>
            <a:off x="1047750" y="1666875"/>
            <a:ext cx="762000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1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61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1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更有条理</a:t>
            </a:r>
          </a:p>
        </p:txBody>
      </p:sp>
      <p:sp>
        <p:nvSpPr>
          <p:cNvPr id="3" name="unorganized-label">
            <a:extLst>
              <a:ext uri="{FF2B5EF4-FFF2-40B4-BE49-F238E27FC236}">
                <a16:creationId xmlns:a16="http://schemas.microsoft.com/office/drawing/2014/main" id="{5CA60D22-63E1-480E-82B5-6609DBC8FB55}"/>
              </a:ext>
            </a:extLst>
          </p:cNvPr>
          <p:cNvSpPr>
            <a:spLocks noGrp="1"/>
          </p:cNvSpPr>
          <p:nvPr/>
        </p:nvSpPr>
        <p:spPr>
          <a:xfrm>
            <a:off x="1085850" y="3514725"/>
            <a:ext cx="66675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不善收纳</a:t>
            </a:r>
          </a:p>
        </p:txBody>
      </p:sp>
      <p:sp>
        <p:nvSpPr>
          <p:cNvPr id="4" name="unorganized-benefit">
            <a:extLst>
              <a:ext uri="{FF2B5EF4-FFF2-40B4-BE49-F238E27FC236}">
                <a16:creationId xmlns:a16="http://schemas.microsoft.com/office/drawing/2014/main" id="{00F94A41-C132-4FE2-A515-34D10251CB92}"/>
              </a:ext>
            </a:extLst>
          </p:cNvPr>
          <p:cNvSpPr>
            <a:spLocks noGrp="1"/>
          </p:cNvSpPr>
          <p:nvPr/>
        </p:nvSpPr>
        <p:spPr>
          <a:xfrm>
            <a:off x="1047750" y="4133850"/>
            <a:ext cx="762000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150" b="1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6150" b="1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en-CN" sz="6150" b="1" dirty="0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rPr>
              <a:t>为您打造</a:t>
            </a:r>
            <a:endParaRPr sz="6150" b="1" dirty="0">
              <a:solidFill>
                <a:srgbClr val="0071E3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435765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legate-1">
            <a:extLst>
              <a:ext uri="{FF2B5EF4-FFF2-40B4-BE49-F238E27FC236}">
                <a16:creationId xmlns:a16="http://schemas.microsoft.com/office/drawing/2014/main" id="{2E24F42B-B92F-4D9F-982C-42D680FE924A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1066800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把繁杂的</a:t>
            </a:r>
          </a:p>
        </p:txBody>
      </p:sp>
      <p:sp>
        <p:nvSpPr>
          <p:cNvPr id="2" name="delegate-2">
            <a:extLst>
              <a:ext uri="{FF2B5EF4-FFF2-40B4-BE49-F238E27FC236}">
                <a16:creationId xmlns:a16="http://schemas.microsoft.com/office/drawing/2014/main" id="{70D1CD6E-264E-4C05-B45A-388D3B364404}"/>
              </a:ext>
            </a:extLst>
          </p:cNvPr>
          <p:cNvSpPr>
            <a:spLocks noGrp="1"/>
          </p:cNvSpPr>
          <p:nvPr/>
        </p:nvSpPr>
        <p:spPr>
          <a:xfrm>
            <a:off x="762000" y="3409950"/>
            <a:ext cx="1066800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交给 AI</a:t>
            </a:r>
          </a:p>
        </p:txBody>
      </p:sp>
    </p:spTree>
    <p:extLst>
      <p:ext uri="{BB962C8B-B14F-4D97-AF65-F5344CB8AC3E}">
        <p14:creationId xmlns:p14="http://schemas.microsoft.com/office/powerpoint/2010/main" val="987376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6E33B-FBCF-E3EE-FF93-F78998AAA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uman-values">
            <a:extLst>
              <a:ext uri="{FF2B5EF4-FFF2-40B4-BE49-F238E27FC236}">
                <a16:creationId xmlns:a16="http://schemas.microsoft.com/office/drawing/2014/main" id="{76E29D37-9AA1-2E60-962D-E2E0F2E232D1}"/>
              </a:ext>
            </a:extLst>
          </p:cNvPr>
          <p:cNvSpPr>
            <a:spLocks noGrp="1"/>
          </p:cNvSpPr>
          <p:nvPr/>
        </p:nvSpPr>
        <p:spPr>
          <a:xfrm>
            <a:off x="783266" y="1838991"/>
            <a:ext cx="10668000" cy="78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575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4575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 dirty="0" err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把情感、创造和生活</a:t>
            </a:r>
            <a:endParaRPr sz="4575" b="1" dirty="0">
              <a:solidFill>
                <a:srgbClr val="15151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human-close">
            <a:extLst>
              <a:ext uri="{FF2B5EF4-FFF2-40B4-BE49-F238E27FC236}">
                <a16:creationId xmlns:a16="http://schemas.microsoft.com/office/drawing/2014/main" id="{210EAF9E-0EEA-F182-7EB3-2C7CD21B0D02}"/>
              </a:ext>
            </a:extLst>
          </p:cNvPr>
          <p:cNvSpPr>
            <a:spLocks noGrp="1"/>
          </p:cNvSpPr>
          <p:nvPr/>
        </p:nvSpPr>
        <p:spPr>
          <a:xfrm>
            <a:off x="783266" y="2677191"/>
            <a:ext cx="10668000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55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55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550" b="1" dirty="0" err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留给人类</a:t>
            </a:r>
            <a:endParaRPr sz="5550" b="1" dirty="0">
              <a:solidFill>
                <a:srgbClr val="15151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brand-close">
            <a:extLst>
              <a:ext uri="{FF2B5EF4-FFF2-40B4-BE49-F238E27FC236}">
                <a16:creationId xmlns:a16="http://schemas.microsoft.com/office/drawing/2014/main" id="{DCB37FA6-287D-65BE-2992-CFDBBC33C67C}"/>
              </a:ext>
            </a:extLst>
          </p:cNvPr>
          <p:cNvSpPr>
            <a:spLocks noGrp="1"/>
          </p:cNvSpPr>
          <p:nvPr/>
        </p:nvSpPr>
        <p:spPr>
          <a:xfrm>
            <a:off x="783266" y="3791616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4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dirty="0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Mind Box</a:t>
            </a:r>
          </a:p>
        </p:txBody>
      </p:sp>
    </p:spTree>
    <p:extLst>
      <p:ext uri="{BB962C8B-B14F-4D97-AF65-F5344CB8AC3E}">
        <p14:creationId xmlns:p14="http://schemas.microsoft.com/office/powerpoint/2010/main" val="3902141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uman-values">
            <a:extLst>
              <a:ext uri="{FF2B5EF4-FFF2-40B4-BE49-F238E27FC236}">
                <a16:creationId xmlns:a16="http://schemas.microsoft.com/office/drawing/2014/main" id="{1C33991A-DBDC-4E4B-88FA-3B065EA6BA90}"/>
              </a:ext>
            </a:extLst>
          </p:cNvPr>
          <p:cNvSpPr>
            <a:spLocks noGrp="1"/>
          </p:cNvSpPr>
          <p:nvPr/>
        </p:nvSpPr>
        <p:spPr>
          <a:xfrm>
            <a:off x="762000" y="5211425"/>
            <a:ext cx="10668000" cy="78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575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4575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3200" dirty="0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万物无感智能收纳</a:t>
            </a:r>
            <a:endParaRPr sz="3200" dirty="0">
              <a:solidFill>
                <a:srgbClr val="15151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brand-close">
            <a:extLst>
              <a:ext uri="{FF2B5EF4-FFF2-40B4-BE49-F238E27FC236}">
                <a16:creationId xmlns:a16="http://schemas.microsoft.com/office/drawing/2014/main" id="{E3290846-2D55-43F9-B322-4203A68C53CC}"/>
              </a:ext>
            </a:extLst>
          </p:cNvPr>
          <p:cNvSpPr>
            <a:spLocks noGrp="1"/>
          </p:cNvSpPr>
          <p:nvPr/>
        </p:nvSpPr>
        <p:spPr>
          <a:xfrm>
            <a:off x="783266" y="2586261"/>
            <a:ext cx="10668000" cy="12332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4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0" b="1" dirty="0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Mind Box</a:t>
            </a:r>
          </a:p>
        </p:txBody>
      </p:sp>
    </p:spTree>
    <p:extLst>
      <p:ext uri="{BB962C8B-B14F-4D97-AF65-F5344CB8AC3E}">
        <p14:creationId xmlns:p14="http://schemas.microsoft.com/office/powerpoint/2010/main" val="210023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Mind Box">
      <a:dk1>
        <a:srgbClr val="000000"/>
      </a:dk1>
      <a:lt1>
        <a:srgbClr val="FFFFFF"/>
      </a:lt1>
      <a:dk2>
        <a:srgbClr val="151515"/>
      </a:dk2>
      <a:lt2>
        <a:srgbClr val="F2F2F2"/>
      </a:lt2>
      <a:accent1>
        <a:srgbClr val="0071E3"/>
      </a:accent1>
      <a:accent2>
        <a:srgbClr val="467C65"/>
      </a:accent2>
      <a:accent3>
        <a:srgbClr val="B2403F"/>
      </a:accent3>
      <a:accent4>
        <a:srgbClr val="A67925"/>
      </a:accent4>
      <a:accent5>
        <a:srgbClr val="797979"/>
      </a:accent5>
      <a:accent6>
        <a:srgbClr val="3D676C"/>
      </a:accent6>
      <a:hlink>
        <a:srgbClr val="0071E3"/>
      </a:hlink>
      <a:folHlink>
        <a:srgbClr val="555555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d Bo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Mind Box">
      <a:dk1>
        <a:srgbClr val="000000"/>
      </a:dk1>
      <a:lt1>
        <a:srgbClr val="FFFFFF"/>
      </a:lt1>
      <a:dk2>
        <a:srgbClr val="151515"/>
      </a:dk2>
      <a:lt2>
        <a:srgbClr val="F2F2F2"/>
      </a:lt2>
      <a:accent1>
        <a:srgbClr val="0071E3"/>
      </a:accent1>
      <a:accent2>
        <a:srgbClr val="467C65"/>
      </a:accent2>
      <a:accent3>
        <a:srgbClr val="B2403F"/>
      </a:accent3>
      <a:accent4>
        <a:srgbClr val="A67925"/>
      </a:accent4>
      <a:accent5>
        <a:srgbClr val="797979"/>
      </a:accent5>
      <a:accent6>
        <a:srgbClr val="3D676C"/>
      </a:accent6>
      <a:hlink>
        <a:srgbClr val="0071E3"/>
      </a:hlink>
      <a:folHlink>
        <a:srgbClr val="555555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d Bo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537</Words>
  <Application>Microsoft Office PowerPoint</Application>
  <DocSecurity>0</DocSecurity>
  <PresentationFormat>Widescreen</PresentationFormat>
  <Paragraphs>95</Paragraphs>
  <Slides>9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Helvetica Neue</vt:lpstr>
      <vt:lpstr>Hiragino Sans GB</vt:lpstr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/>
  <cp:revision>5</cp:revision>
  <dcterms:created xsi:type="dcterms:W3CDTF">2026-10-18T07:01:17Z</dcterms:created>
  <dcterms:modified xsi:type="dcterms:W3CDTF">2026-10-19T16:08:25Z</dcterms:modified>
</cp:coreProperties>
</file>